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306" r:id="rId2"/>
    <p:sldId id="259" r:id="rId3"/>
    <p:sldId id="257" r:id="rId4"/>
    <p:sldId id="260" r:id="rId5"/>
    <p:sldId id="262" r:id="rId6"/>
    <p:sldId id="258" r:id="rId7"/>
    <p:sldId id="263" r:id="rId8"/>
    <p:sldId id="307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9718" autoAdjust="0"/>
  </p:normalViewPr>
  <p:slideViewPr>
    <p:cSldViewPr>
      <p:cViewPr varScale="1">
        <p:scale>
          <a:sx n="47" d="100"/>
          <a:sy n="47" d="100"/>
        </p:scale>
        <p:origin x="248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395FBD-0F67-4A8B-97FB-E5ADF31BD34D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F3E1E-4587-4586-92F5-CB2C26E2A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11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begin Digital Image Processing, a foundational course that bridges computer science, mathematics, and real-world systems such as medical imaging, satellite vision, and autonomous systems.</a:t>
            </a:r>
            <a:br>
              <a:rPr lang="en-US" dirty="0"/>
            </a:br>
            <a:r>
              <a:rPr lang="en-US" dirty="0"/>
              <a:t>This course is not about image editing alone; it is about understanding how machines acquire, represent, enhance, </a:t>
            </a:r>
            <a:r>
              <a:rPr lang="en-US" dirty="0" err="1"/>
              <a:t>analyse</a:t>
            </a:r>
            <a:r>
              <a:rPr lang="en-US" dirty="0"/>
              <a:t>, and reason about visual data.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775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course is designed as a </a:t>
            </a:r>
            <a:r>
              <a:rPr lang="en-US" b="1" dirty="0"/>
              <a:t>computer science course with strong mathematical grounding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 will learn not only </a:t>
            </a:r>
            <a:r>
              <a:rPr lang="en-US" i="1" dirty="0"/>
              <a:t>what</a:t>
            </a:r>
            <a:r>
              <a:rPr lang="en-US" dirty="0"/>
              <a:t> image processing algorithms do, but </a:t>
            </a:r>
            <a:r>
              <a:rPr lang="en-US" i="1" dirty="0"/>
              <a:t>why</a:t>
            </a:r>
            <a:r>
              <a:rPr lang="en-US" dirty="0"/>
              <a:t> they work and </a:t>
            </a:r>
            <a:r>
              <a:rPr lang="en-US" i="1" dirty="0"/>
              <a:t>how</a:t>
            </a:r>
            <a:r>
              <a:rPr lang="en-US" dirty="0"/>
              <a:t> to design them.</a:t>
            </a:r>
            <a:br>
              <a:rPr lang="en-US" dirty="0"/>
            </a:br>
            <a:r>
              <a:rPr lang="en-US" dirty="0"/>
              <a:t>We will move from low-level pixel operations to higher-level interpretation and analysis.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580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course is taught by </a:t>
            </a:r>
            <a:r>
              <a:rPr lang="en-US" b="1" dirty="0"/>
              <a:t>Dr. Behnam Kiani </a:t>
            </a:r>
            <a:r>
              <a:rPr lang="en-US" b="1" dirty="0" err="1"/>
              <a:t>Kalejahi</a:t>
            </a:r>
            <a:r>
              <a:rPr lang="en-US" dirty="0"/>
              <a:t>, whose background spans biomedical engineering and computer engineering.</a:t>
            </a:r>
            <a:br>
              <a:rPr lang="en-US" dirty="0"/>
            </a:br>
            <a:r>
              <a:rPr lang="en-US" dirty="0"/>
              <a:t>His research interests in </a:t>
            </a:r>
            <a:r>
              <a:rPr lang="en-US" b="1" dirty="0"/>
              <a:t>biomedical image processing</a:t>
            </a:r>
            <a:r>
              <a:rPr lang="en-US" dirty="0"/>
              <a:t> directly influence this course, especially in medical imaging examples such as MRI, CT, and ultrasound.</a:t>
            </a:r>
            <a:br>
              <a:rPr lang="en-US" dirty="0"/>
            </a:br>
            <a:r>
              <a:rPr lang="en-US" dirty="0"/>
              <a:t>Consultation hours are available for both conceptual and technical questions.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50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course assumes comfort with:</a:t>
            </a:r>
          </a:p>
          <a:p>
            <a:r>
              <a:rPr lang="en-US" dirty="0"/>
              <a:t>Calculus and linear algebra</a:t>
            </a:r>
          </a:p>
          <a:p>
            <a:r>
              <a:rPr lang="en-US" dirty="0"/>
              <a:t>Probability and signals</a:t>
            </a:r>
          </a:p>
          <a:p>
            <a:r>
              <a:rPr lang="en-US" dirty="0"/>
              <a:t>Programming in MATLAB, Python, or C++</a:t>
            </a:r>
          </a:p>
          <a:p>
            <a:r>
              <a:rPr lang="en-US" dirty="0"/>
              <a:t>Image processing is inherently mathematical. Pixels are numbers, images are matrices, and algorithms are transformations. If you understand matrices, you understand images.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906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reference is </a:t>
            </a:r>
            <a:r>
              <a:rPr lang="en-US" b="1" dirty="0"/>
              <a:t>Gonzalez &amp; Woods – Digital Image Processing</a:t>
            </a:r>
            <a:r>
              <a:rPr lang="en-US" dirty="0"/>
              <a:t>, one of the most cited texts in the field.</a:t>
            </a:r>
            <a:br>
              <a:rPr lang="en-US" dirty="0"/>
            </a:br>
            <a:r>
              <a:rPr lang="en-US" dirty="0"/>
              <a:t>We will not follow it mechanically; instead, we will extract key principles and combine them with </a:t>
            </a:r>
            <a:r>
              <a:rPr lang="en-US" b="1" dirty="0"/>
              <a:t>recent advances</a:t>
            </a:r>
            <a:r>
              <a:rPr lang="en-US" dirty="0"/>
              <a:t> and real-world applications.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85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337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midterm is </a:t>
            </a:r>
            <a:r>
              <a:rPr lang="en-US" b="1" dirty="0"/>
              <a:t>paper-based</a:t>
            </a:r>
            <a:r>
              <a:rPr lang="en-US" dirty="0"/>
              <a:t>, focusing on conceptual understanding.</a:t>
            </a:r>
            <a:br>
              <a:rPr lang="en-US" dirty="0"/>
            </a:br>
            <a:r>
              <a:rPr lang="en-US" dirty="0"/>
              <a:t>You may be asked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algorithms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Solve small mathematical problems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Write short Python-style pseudocode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evaluates whether you understand the logic behind the methods.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296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exam emphasizes </a:t>
            </a:r>
            <a:r>
              <a:rPr lang="en-US" b="1" dirty="0"/>
              <a:t>problem-solving and interpretation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 may be shown before-and-after images and asked: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algorithm was used?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Why was it appropriate?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are its limitations?</a:t>
            </a:r>
          </a:p>
          <a:p>
            <a:r>
              <a:rPr lang="en-US" dirty="0"/>
              <a:t>This reflects how image processing is used in practice.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270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cover the full pipeline:</a:t>
            </a:r>
          </a:p>
          <a:p>
            <a:r>
              <a:rPr lang="en-US" dirty="0"/>
              <a:t>Image acquisition</a:t>
            </a:r>
          </a:p>
          <a:p>
            <a:r>
              <a:rPr lang="en-US" dirty="0"/>
              <a:t>Enhancement and restoration</a:t>
            </a:r>
          </a:p>
          <a:p>
            <a:r>
              <a:rPr lang="en-US" dirty="0"/>
              <a:t>Compression</a:t>
            </a:r>
          </a:p>
          <a:p>
            <a:r>
              <a:rPr lang="en-US" dirty="0"/>
              <a:t>Segmentation</a:t>
            </a:r>
          </a:p>
          <a:p>
            <a:r>
              <a:rPr lang="en-US" dirty="0"/>
              <a:t>Morphology</a:t>
            </a:r>
          </a:p>
          <a:p>
            <a:r>
              <a:rPr lang="en-US" dirty="0"/>
              <a:t>Advanced and recent topics</a:t>
            </a:r>
          </a:p>
          <a:p>
            <a:r>
              <a:rPr lang="en-US" dirty="0"/>
              <a:t>Each topic builds on the previous one—this is a system, not isolated tools.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580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a fundamental limitation of human vision compared to machine vision.</a:t>
            </a:r>
            <a:br>
              <a:rPr lang="en-US" dirty="0"/>
            </a:br>
            <a:r>
              <a:rPr lang="en-US" dirty="0"/>
              <a:t>Humans perceive only a </a:t>
            </a:r>
            <a:r>
              <a:rPr lang="en-US" b="1" dirty="0"/>
              <a:t>very narrow band</a:t>
            </a:r>
            <a:r>
              <a:rPr lang="en-US" dirty="0"/>
              <a:t> of the electromagnetic spectrum—</a:t>
            </a:r>
            <a:r>
              <a:rPr lang="en-US" b="1" dirty="0"/>
              <a:t>what we call </a:t>
            </a:r>
            <a:r>
              <a:rPr lang="en-US" b="1" i="1" dirty="0"/>
              <a:t>visible light</a:t>
            </a:r>
            <a:r>
              <a:rPr lang="en-US" dirty="0"/>
              <a:t>, roughly between </a:t>
            </a:r>
            <a:r>
              <a:rPr lang="en-US" b="1" dirty="0"/>
              <a:t>400 and 700 </a:t>
            </a:r>
            <a:r>
              <a:rPr lang="en-US" b="1" dirty="0" err="1"/>
              <a:t>nanometres</a:t>
            </a:r>
            <a:r>
              <a:rPr lang="en-US" dirty="0"/>
              <a:t>.</a:t>
            </a:r>
          </a:p>
          <a:p>
            <a:r>
              <a:rPr lang="en-US" dirty="0"/>
              <a:t>Everything outside this narrow range—infrared, ultraviolet, X-rays, gamma rays—exists in the same physical world, but is </a:t>
            </a:r>
            <a:r>
              <a:rPr lang="en-US" b="1" dirty="0"/>
              <a:t>completely invisible to us</a:t>
            </a:r>
            <a:r>
              <a:rPr lang="en-US" dirty="0"/>
              <a:t> without technological assistance.</a:t>
            </a:r>
          </a:p>
          <a:p>
            <a:r>
              <a:rPr lang="en-US" dirty="0"/>
              <a:t>Machines, however, are not biologically constrained. Cameras and sensors can be designed to operate across </a:t>
            </a:r>
            <a:r>
              <a:rPr lang="en-US" b="1" dirty="0"/>
              <a:t>almost the entire electromagnetic spectrum</a:t>
            </a:r>
            <a:r>
              <a:rPr lang="en-US" dirty="0"/>
              <a:t>, from radio waves to gamma rays.</a:t>
            </a:r>
            <a:br>
              <a:rPr lang="en-US" dirty="0"/>
            </a:br>
            <a:r>
              <a:rPr lang="en-US" dirty="0"/>
              <a:t>This is why we can perform </a:t>
            </a:r>
            <a:r>
              <a:rPr lang="en-US" b="1" dirty="0"/>
              <a:t>MRI scans, CT imaging, infrared surveillance, satellite imaging, and ultrasound diagnostics</a:t>
            </a:r>
            <a:r>
              <a:rPr lang="en-US" dirty="0"/>
              <a:t>—all of which rely on information humans cannot directly perceive.</a:t>
            </a:r>
          </a:p>
          <a:p>
            <a:r>
              <a:rPr lang="en-US" dirty="0"/>
              <a:t>In digital image processing, this distinction is critical.</a:t>
            </a:r>
            <a:br>
              <a:rPr lang="en-US" dirty="0"/>
            </a:br>
            <a:r>
              <a:rPr lang="en-US" dirty="0"/>
              <a:t>An “image” is not defined by visibility to humans—it is defined by </a:t>
            </a:r>
            <a:r>
              <a:rPr lang="en-US" b="1" dirty="0"/>
              <a:t>measurable energy captured by a sensor and converted into data</a:t>
            </a:r>
            <a:r>
              <a:rPr lang="en-US" dirty="0"/>
              <a:t>.</a:t>
            </a:r>
          </a:p>
          <a:p>
            <a:r>
              <a:rPr lang="en-US" dirty="0"/>
              <a:t>Once captured and </a:t>
            </a:r>
            <a:r>
              <a:rPr lang="en-US" dirty="0" err="1"/>
              <a:t>digitised</a:t>
            </a:r>
            <a:r>
              <a:rPr lang="en-US" dirty="0"/>
              <a:t>, an infrared image, an X-ray image, and a visible-light photograph are all treated similarly:</a:t>
            </a:r>
            <a:br>
              <a:rPr lang="en-US" dirty="0"/>
            </a:br>
            <a:r>
              <a:rPr lang="en-US" dirty="0"/>
              <a:t>they become matrices of numbers that can be processed using the </a:t>
            </a:r>
            <a:r>
              <a:rPr lang="en-US" b="1" dirty="0"/>
              <a:t>same mathematical tools</a:t>
            </a:r>
            <a:r>
              <a:rPr lang="en-US" dirty="0"/>
              <a:t>.</a:t>
            </a:r>
          </a:p>
          <a:p>
            <a:r>
              <a:rPr lang="en-US" dirty="0"/>
              <a:t>This is one of the key reasons machine vision often outperforms human vision in medical diagnostics, security, and industrial inspection:</a:t>
            </a:r>
            <a:br>
              <a:rPr lang="en-US" dirty="0"/>
            </a:br>
            <a:r>
              <a:rPr lang="en-US" dirty="0"/>
              <a:t>machines can </a:t>
            </a:r>
            <a:r>
              <a:rPr lang="en-US" i="1" dirty="0"/>
              <a:t>see more</a:t>
            </a:r>
            <a:r>
              <a:rPr lang="en-US" dirty="0"/>
              <a:t>, </a:t>
            </a:r>
            <a:r>
              <a:rPr lang="en-US" i="1" dirty="0"/>
              <a:t>measure more</a:t>
            </a:r>
            <a:r>
              <a:rPr lang="en-US" dirty="0"/>
              <a:t>, and </a:t>
            </a:r>
            <a:r>
              <a:rPr lang="en-US" i="1" dirty="0"/>
              <a:t>operate objectively across spectra humans cannot access</a:t>
            </a:r>
            <a:r>
              <a:rPr lang="en-US" dirty="0"/>
              <a:t>.</a:t>
            </a:r>
          </a:p>
          <a:p>
            <a:r>
              <a:rPr lang="en-US" dirty="0"/>
              <a:t>Throughout this course, we will repeatedly return to this idea:</a:t>
            </a:r>
            <a:br>
              <a:rPr lang="en-US" dirty="0"/>
            </a:br>
            <a:r>
              <a:rPr lang="en-US" b="1" dirty="0"/>
              <a:t>image processing is not about making images look nice—it is about extracting information from data beyond human perception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59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</a:t>
            </a:r>
            <a:r>
              <a:rPr lang="en-US" dirty="0" err="1"/>
              <a:t>summarises</a:t>
            </a:r>
            <a:r>
              <a:rPr lang="en-US" dirty="0"/>
              <a:t> the </a:t>
            </a:r>
            <a:r>
              <a:rPr lang="en-US" b="1" dirty="0"/>
              <a:t>entire conceptual hierarchy</a:t>
            </a:r>
            <a:r>
              <a:rPr lang="en-US" dirty="0"/>
              <a:t> of this course, moving from raw data handling to high-level interpretation.</a:t>
            </a:r>
          </a:p>
          <a:p>
            <a:r>
              <a:rPr lang="en-US" dirty="0"/>
              <a:t>At the </a:t>
            </a:r>
            <a:r>
              <a:rPr lang="en-US" b="1" dirty="0"/>
              <a:t>low level</a:t>
            </a:r>
            <a:r>
              <a:rPr lang="en-US" dirty="0"/>
              <a:t>, we are concerned with the image itself.</a:t>
            </a:r>
            <a:br>
              <a:rPr lang="en-US" dirty="0"/>
            </a:br>
            <a:r>
              <a:rPr lang="en-US" dirty="0"/>
              <a:t>This includes </a:t>
            </a:r>
            <a:r>
              <a:rPr lang="en-US" b="1" dirty="0"/>
              <a:t>image acquisition, enhancement, and compression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goal here is to </a:t>
            </a:r>
            <a:r>
              <a:rPr lang="en-US" b="1" dirty="0"/>
              <a:t>improve image quality or efficiency</a:t>
            </a:r>
            <a:r>
              <a:rPr lang="en-US" dirty="0"/>
              <a:t>, without attempting to understand what the image contains.</a:t>
            </a:r>
          </a:p>
          <a:p>
            <a:r>
              <a:rPr lang="en-US" dirty="0"/>
              <a:t>These operations fall under </a:t>
            </a:r>
            <a:r>
              <a:rPr lang="en-US" b="1" dirty="0"/>
              <a:t>image processing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They work directly on pixel values and are generally </a:t>
            </a:r>
            <a:r>
              <a:rPr lang="en-US" b="1" dirty="0"/>
              <a:t>task-independent</a:t>
            </a:r>
            <a:r>
              <a:rPr lang="en-US" dirty="0"/>
              <a:t>.</a:t>
            </a:r>
          </a:p>
          <a:p>
            <a:r>
              <a:rPr lang="en-US" dirty="0"/>
              <a:t>At the </a:t>
            </a:r>
            <a:r>
              <a:rPr lang="en-US" b="1" dirty="0"/>
              <a:t>mid level</a:t>
            </a:r>
            <a:r>
              <a:rPr lang="en-US" dirty="0"/>
              <a:t>, we begin to introduce meaning.</a:t>
            </a:r>
            <a:br>
              <a:rPr lang="en-US" dirty="0"/>
            </a:br>
            <a:r>
              <a:rPr lang="en-US" b="1" dirty="0"/>
              <a:t>Image segmentation</a:t>
            </a:r>
            <a:r>
              <a:rPr lang="en-US" dirty="0"/>
              <a:t> divides an image into regions, and </a:t>
            </a:r>
            <a:r>
              <a:rPr lang="en-US" b="1" dirty="0"/>
              <a:t>object recognition</a:t>
            </a:r>
            <a:r>
              <a:rPr lang="en-US" dirty="0"/>
              <a:t> assigns labels to those regions.</a:t>
            </a:r>
            <a:br>
              <a:rPr lang="en-US" dirty="0"/>
            </a:br>
            <a:r>
              <a:rPr lang="en-US" dirty="0"/>
              <a:t>This is where the transition from processing to analysis begins.</a:t>
            </a:r>
          </a:p>
          <a:p>
            <a:r>
              <a:rPr lang="en-US" dirty="0"/>
              <a:t>At the </a:t>
            </a:r>
            <a:r>
              <a:rPr lang="en-US" b="1" dirty="0"/>
              <a:t>high level</a:t>
            </a:r>
            <a:r>
              <a:rPr lang="en-US" dirty="0"/>
              <a:t>, we deal with </a:t>
            </a:r>
            <a:r>
              <a:rPr lang="en-US" b="1" dirty="0"/>
              <a:t>scene understanding and semantics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Here, the system answers questions such as:</a:t>
            </a:r>
            <a:br>
              <a:rPr lang="en-US" dirty="0"/>
            </a:br>
            <a:r>
              <a:rPr lang="en-US" i="1" dirty="0"/>
              <a:t>What is happening in the image?</a:t>
            </a:r>
            <a:br>
              <a:rPr lang="en-US" dirty="0"/>
            </a:br>
            <a:r>
              <a:rPr lang="en-US" i="1" dirty="0"/>
              <a:t>What objects are present, and how do they relate to each other?</a:t>
            </a:r>
            <a:endParaRPr lang="en-US" dirty="0"/>
          </a:p>
          <a:p>
            <a:r>
              <a:rPr lang="en-US" dirty="0"/>
              <a:t>These higher levels fall under </a:t>
            </a:r>
            <a:r>
              <a:rPr lang="en-US" b="1" dirty="0"/>
              <a:t>image analysis</a:t>
            </a:r>
            <a:r>
              <a:rPr lang="en-US" dirty="0"/>
              <a:t>, also known as </a:t>
            </a:r>
            <a:r>
              <a:rPr lang="en-US" b="1" dirty="0"/>
              <a:t>computer vision and pattern recognition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focus shifts from pixels to </a:t>
            </a:r>
            <a:r>
              <a:rPr lang="en-US" b="1" dirty="0"/>
              <a:t>information, structure, and interpretation</a:t>
            </a:r>
            <a:r>
              <a:rPr lang="en-US" dirty="0"/>
              <a:t>.</a:t>
            </a:r>
          </a:p>
          <a:p>
            <a:r>
              <a:rPr lang="en-US" dirty="0"/>
              <a:t>The arrow on the left </a:t>
            </a:r>
            <a:r>
              <a:rPr lang="en-US" dirty="0" err="1"/>
              <a:t>emphasises</a:t>
            </a:r>
            <a:r>
              <a:rPr lang="en-US" dirty="0"/>
              <a:t> that this is a </a:t>
            </a:r>
            <a:r>
              <a:rPr lang="en-US" b="1" dirty="0"/>
              <a:t>progressive abstraction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As we move upward, we rely increasingly on models, learning, and prior knowledge, and less on raw pixel manipulation.</a:t>
            </a:r>
          </a:p>
          <a:p>
            <a:r>
              <a:rPr lang="en-US" dirty="0"/>
              <a:t>A key takeaway is that </a:t>
            </a:r>
            <a:r>
              <a:rPr lang="en-US" b="1" dirty="0"/>
              <a:t>errors at lower levels propagate upward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Poor acquisition or enhancement will negatively impact segmentation, recognition, and semantic understanding.</a:t>
            </a:r>
          </a:p>
          <a:p>
            <a:r>
              <a:rPr lang="en-US" dirty="0"/>
              <a:t>Throughout this course, we will mostly operate at the </a:t>
            </a:r>
            <a:r>
              <a:rPr lang="en-US" b="1" dirty="0"/>
              <a:t>low and mid levels</a:t>
            </a:r>
            <a:r>
              <a:rPr lang="en-US" dirty="0"/>
              <a:t>, while providing a conceptual bridge to modern high-level vision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194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illustrates the complete </a:t>
            </a:r>
            <a:r>
              <a:rPr lang="en-US" b="1" dirty="0"/>
              <a:t>digital image acquisition pipeline</a:t>
            </a:r>
            <a:r>
              <a:rPr lang="en-US" dirty="0"/>
              <a:t>, from the physical world to a digital image stored in a computer.</a:t>
            </a:r>
            <a:br>
              <a:rPr lang="en-US" dirty="0"/>
            </a:br>
            <a:r>
              <a:rPr lang="en-US" dirty="0"/>
              <a:t>Understanding this pipeline is essential, because </a:t>
            </a:r>
            <a:r>
              <a:rPr lang="en-US" b="1" dirty="0"/>
              <a:t>many image quality problems originate at this stage</a:t>
            </a:r>
            <a:r>
              <a:rPr lang="en-US" dirty="0"/>
              <a:t>, not during processing.</a:t>
            </a:r>
          </a:p>
          <a:p>
            <a:r>
              <a:rPr lang="en-US" dirty="0"/>
              <a:t>We begin with an </a:t>
            </a:r>
            <a:r>
              <a:rPr lang="en-US" b="1" dirty="0"/>
              <a:t>illumination or energy source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could be visible light, X-rays, infrared radiation, ultrasound waves, or any other form of electromagnetic or acoustic energy, depending on the imaging modality.</a:t>
            </a:r>
          </a:p>
          <a:p>
            <a:r>
              <a:rPr lang="en-US" dirty="0"/>
              <a:t>That energy interacts with a </a:t>
            </a:r>
            <a:r>
              <a:rPr lang="en-US" b="1" dirty="0"/>
              <a:t>scene element</a:t>
            </a:r>
            <a:r>
              <a:rPr lang="en-US" dirty="0"/>
              <a:t>, which is the object or tissue we want to image.</a:t>
            </a:r>
            <a:br>
              <a:rPr lang="en-US" dirty="0"/>
            </a:br>
            <a:r>
              <a:rPr lang="en-US" dirty="0"/>
              <a:t>Different materials absorb, reflect, transmit, or scatter energy differently.</a:t>
            </a:r>
            <a:br>
              <a:rPr lang="en-US" dirty="0"/>
            </a:br>
            <a:r>
              <a:rPr lang="en-US" dirty="0"/>
              <a:t>This interaction encodes information about the scene into the energy signal.</a:t>
            </a:r>
          </a:p>
          <a:p>
            <a:r>
              <a:rPr lang="en-US" dirty="0"/>
              <a:t>The modified energy then enters the </a:t>
            </a:r>
            <a:r>
              <a:rPr lang="en-US" b="1" dirty="0"/>
              <a:t>imaging system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system may include lenses, mirrors, sensors, and electronic components.</a:t>
            </a:r>
            <a:br>
              <a:rPr lang="en-US" dirty="0"/>
            </a:br>
            <a:r>
              <a:rPr lang="en-US" dirty="0"/>
              <a:t>Its job is to </a:t>
            </a:r>
            <a:r>
              <a:rPr lang="en-US" b="1" dirty="0"/>
              <a:t>project the scene onto an internal image plane</a:t>
            </a:r>
            <a:r>
              <a:rPr lang="en-US" dirty="0"/>
              <a:t> while preserving spatial information.</a:t>
            </a:r>
          </a:p>
          <a:p>
            <a:r>
              <a:rPr lang="en-US" dirty="0"/>
              <a:t>On the image plane, we still have a </a:t>
            </a:r>
            <a:r>
              <a:rPr lang="en-US" b="1" dirty="0"/>
              <a:t>continuous representation</a:t>
            </a:r>
            <a:r>
              <a:rPr lang="en-US" dirty="0"/>
              <a:t> of the scene.</a:t>
            </a:r>
            <a:br>
              <a:rPr lang="en-US" dirty="0"/>
            </a:br>
            <a:r>
              <a:rPr lang="en-US" dirty="0"/>
              <a:t>At this point, the image is </a:t>
            </a:r>
            <a:r>
              <a:rPr lang="en-US" i="1" dirty="0"/>
              <a:t>not digital yet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exists as a continuous distribution of energy or intensity.</a:t>
            </a:r>
          </a:p>
          <a:p>
            <a:r>
              <a:rPr lang="en-US" dirty="0"/>
              <a:t>The final step is </a:t>
            </a:r>
            <a:r>
              <a:rPr lang="en-US" b="1" dirty="0" err="1"/>
              <a:t>digitisation</a:t>
            </a:r>
            <a:r>
              <a:rPr lang="en-US" dirty="0"/>
              <a:t>, which involves two operations:</a:t>
            </a:r>
          </a:p>
          <a:p>
            <a:r>
              <a:rPr lang="en-US" b="1" dirty="0"/>
              <a:t>Sampling</a:t>
            </a:r>
            <a:r>
              <a:rPr lang="en-US" dirty="0"/>
              <a:t>: dividing the image plane into a grid of pixels</a:t>
            </a:r>
          </a:p>
          <a:p>
            <a:r>
              <a:rPr lang="en-US" b="1" dirty="0" err="1"/>
              <a:t>Quantisation</a:t>
            </a:r>
            <a:r>
              <a:rPr lang="en-US" dirty="0"/>
              <a:t>: assigning each pixel a discrete intensity value</a:t>
            </a:r>
          </a:p>
          <a:p>
            <a:r>
              <a:rPr lang="en-US" dirty="0"/>
              <a:t>The result is the </a:t>
            </a:r>
            <a:r>
              <a:rPr lang="en-US" b="1" dirty="0"/>
              <a:t>output digital image</a:t>
            </a:r>
            <a:r>
              <a:rPr lang="en-US" dirty="0"/>
              <a:t>, represented as a matrix of numbers.</a:t>
            </a:r>
            <a:br>
              <a:rPr lang="en-US" dirty="0"/>
            </a:br>
            <a:r>
              <a:rPr lang="en-US" dirty="0"/>
              <a:t>This is the form that computers can store, process, </a:t>
            </a:r>
            <a:r>
              <a:rPr lang="en-US" dirty="0" err="1"/>
              <a:t>analyse</a:t>
            </a:r>
            <a:r>
              <a:rPr lang="en-US" dirty="0"/>
              <a:t>, and transmit.</a:t>
            </a:r>
          </a:p>
          <a:p>
            <a:r>
              <a:rPr lang="en-US" dirty="0"/>
              <a:t>A key takeaway here is that </a:t>
            </a:r>
            <a:r>
              <a:rPr lang="en-US" b="1" dirty="0"/>
              <a:t>image processing starts only after acquisition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illumination is poor, sampling is insufficient, or noise is introduced at this stage, no algorithm can fully recover the lost information.</a:t>
            </a:r>
          </a:p>
          <a:p>
            <a:r>
              <a:rPr lang="en-US" dirty="0"/>
              <a:t>Throughout this course, we will frequently refer back to this model, because enhancement, restoration, segmentation, and recognition are all constrained by how the image was acquired.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88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example is a </a:t>
            </a:r>
            <a:r>
              <a:rPr lang="en-US" b="1" dirty="0"/>
              <a:t>Brain MRI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MRI uses radiofrequency signals and magnetic fields, not visible light.</a:t>
            </a:r>
            <a:br>
              <a:rPr lang="en-US" dirty="0"/>
            </a:br>
            <a:r>
              <a:rPr lang="en-US" dirty="0"/>
              <a:t>The resulting image encodes tissue properties such as proton density and relaxation times.</a:t>
            </a:r>
          </a:p>
          <a:p>
            <a:r>
              <a:rPr lang="en-US" dirty="0"/>
              <a:t>The second example is a </a:t>
            </a:r>
            <a:r>
              <a:rPr lang="en-US" b="1" dirty="0"/>
              <a:t>Cardiac CT scan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CT images are generated using X-ray attenuation and provide high-resolution structural information, particularly useful for bones and cardiac anatomy.</a:t>
            </a:r>
          </a:p>
          <a:p>
            <a:r>
              <a:rPr lang="en-US" dirty="0"/>
              <a:t>The third image is a </a:t>
            </a:r>
            <a:r>
              <a:rPr lang="en-US" b="1" dirty="0"/>
              <a:t>Fetal Ultrasound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Here, the image is formed using </a:t>
            </a:r>
            <a:r>
              <a:rPr lang="en-US" b="1" dirty="0"/>
              <a:t>acoustic waves</a:t>
            </a:r>
            <a:r>
              <a:rPr lang="en-US" dirty="0"/>
              <a:t>, not electromagnetic radiation.</a:t>
            </a:r>
            <a:br>
              <a:rPr lang="en-US" dirty="0"/>
            </a:br>
            <a:r>
              <a:rPr lang="en-US" dirty="0"/>
              <a:t>Despite the different physics, the final output is still a 2D grid of intensity values.</a:t>
            </a:r>
          </a:p>
          <a:p>
            <a:r>
              <a:rPr lang="en-US" dirty="0"/>
              <a:t>The fourth image is a </a:t>
            </a:r>
            <a:r>
              <a:rPr lang="en-US" b="1" dirty="0"/>
              <a:t>Satellite image</a:t>
            </a:r>
            <a:r>
              <a:rPr lang="en-US" dirty="0"/>
              <a:t>, captured from space using optical or multispectral sensors.</a:t>
            </a:r>
            <a:br>
              <a:rPr lang="en-US" dirty="0"/>
            </a:br>
            <a:r>
              <a:rPr lang="en-US" dirty="0"/>
              <a:t>These images are commonly used in environmental monitoring, urban planning, and </a:t>
            </a:r>
            <a:r>
              <a:rPr lang="en-US" dirty="0" err="1"/>
              <a:t>defence</a:t>
            </a:r>
            <a:r>
              <a:rPr lang="en-US" dirty="0"/>
              <a:t> applications.</a:t>
            </a:r>
          </a:p>
          <a:p>
            <a:r>
              <a:rPr lang="en-US" dirty="0"/>
              <a:t>The fifth example is an </a:t>
            </a:r>
            <a:r>
              <a:rPr lang="en-US" b="1" dirty="0"/>
              <a:t>Infrared (IR) image</a:t>
            </a:r>
            <a:r>
              <a:rPr lang="en-US" dirty="0"/>
              <a:t>, which represents temperature variations rather than visible </a:t>
            </a:r>
            <a:r>
              <a:rPr lang="en-US" dirty="0" err="1"/>
              <a:t>colour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Such images are widely used in surveillance, building inspection, and medical thermography.</a:t>
            </a:r>
          </a:p>
          <a:p>
            <a:r>
              <a:rPr lang="en-US" dirty="0"/>
              <a:t>The key message of this slide is that </a:t>
            </a:r>
            <a:r>
              <a:rPr lang="en-US" b="1" dirty="0"/>
              <a:t>image processing techniques do not depend on how the image was created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Once the data is </a:t>
            </a:r>
            <a:r>
              <a:rPr lang="en-US" dirty="0" err="1"/>
              <a:t>digitised</a:t>
            </a:r>
            <a:r>
              <a:rPr lang="en-US" dirty="0"/>
              <a:t>, enhancement, segmentation, compression, and analysis can be applied using the same mathematical framework.</a:t>
            </a:r>
          </a:p>
          <a:p>
            <a:r>
              <a:rPr lang="en-US" dirty="0"/>
              <a:t>Throughout this course, we will repeatedly work with images from different domains to </a:t>
            </a:r>
            <a:r>
              <a:rPr lang="en-US" dirty="0" err="1"/>
              <a:t>emphasise</a:t>
            </a:r>
            <a:r>
              <a:rPr lang="en-US" dirty="0"/>
              <a:t> that </a:t>
            </a:r>
            <a:r>
              <a:rPr lang="en-US" b="1" dirty="0"/>
              <a:t>the power of digital image processing lies in its generality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544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focuses on how images are physically captured and transferred into a computer.</a:t>
            </a:r>
            <a:br>
              <a:rPr lang="en-US" dirty="0"/>
            </a:br>
            <a:r>
              <a:rPr lang="en-US" dirty="0"/>
              <a:t>At its core, image acquisition converts </a:t>
            </a:r>
            <a:r>
              <a:rPr lang="en-US" b="1" dirty="0"/>
              <a:t>real-world energy into digital data</a:t>
            </a:r>
            <a:r>
              <a:rPr lang="en-US" dirty="0"/>
              <a:t>.</a:t>
            </a:r>
          </a:p>
          <a:p>
            <a:r>
              <a:rPr lang="en-US" dirty="0"/>
              <a:t>Traditionally, this involved two separate steps: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camera</a:t>
            </a:r>
            <a:r>
              <a:rPr lang="en-US" dirty="0"/>
              <a:t>, which captures the image, and a </a:t>
            </a:r>
            <a:r>
              <a:rPr lang="en-US" b="1" dirty="0"/>
              <a:t>scanner</a:t>
            </a:r>
            <a:r>
              <a:rPr lang="en-US" dirty="0"/>
              <a:t>, which </a:t>
            </a:r>
            <a:r>
              <a:rPr lang="en-US" dirty="0" err="1"/>
              <a:t>digitises</a:t>
            </a:r>
            <a:r>
              <a:rPr lang="en-US" dirty="0"/>
              <a:t> it.</a:t>
            </a:r>
            <a:br>
              <a:rPr lang="en-US" dirty="0"/>
            </a:br>
            <a:r>
              <a:rPr lang="en-US" dirty="0"/>
              <a:t>Modern </a:t>
            </a:r>
            <a:r>
              <a:rPr lang="en-US" b="1" dirty="0"/>
              <a:t>digital cameras combine both functions</a:t>
            </a:r>
            <a:r>
              <a:rPr lang="en-US" dirty="0"/>
              <a:t> into a single device.</a:t>
            </a:r>
          </a:p>
          <a:p>
            <a:r>
              <a:rPr lang="en-US" dirty="0"/>
              <a:t>Let’s briefly review the key components shown here:</a:t>
            </a:r>
          </a:p>
          <a:p>
            <a:r>
              <a:rPr lang="en-US" dirty="0"/>
              <a:t>The </a:t>
            </a:r>
            <a:r>
              <a:rPr lang="en-US" b="1" dirty="0"/>
              <a:t>lens</a:t>
            </a:r>
            <a:r>
              <a:rPr lang="en-US" dirty="0"/>
              <a:t> focuses incoming light onto the sensor or film</a:t>
            </a:r>
          </a:p>
          <a:p>
            <a:r>
              <a:rPr lang="en-US" dirty="0"/>
              <a:t>The </a:t>
            </a:r>
            <a:r>
              <a:rPr lang="en-US" b="1" dirty="0"/>
              <a:t>aperture</a:t>
            </a:r>
            <a:r>
              <a:rPr lang="en-US" dirty="0"/>
              <a:t> controls how </a:t>
            </a:r>
            <a:r>
              <a:rPr lang="en-US" b="1" dirty="0"/>
              <a:t>much</a:t>
            </a:r>
            <a:r>
              <a:rPr lang="en-US" dirty="0"/>
              <a:t> light enters the system</a:t>
            </a:r>
          </a:p>
          <a:p>
            <a:r>
              <a:rPr lang="en-US" dirty="0"/>
              <a:t>The </a:t>
            </a:r>
            <a:r>
              <a:rPr lang="en-US" b="1" dirty="0"/>
              <a:t>shutter</a:t>
            </a:r>
            <a:r>
              <a:rPr lang="en-US" dirty="0"/>
              <a:t> controls how </a:t>
            </a:r>
            <a:r>
              <a:rPr lang="en-US" b="1" dirty="0"/>
              <a:t>long</a:t>
            </a:r>
            <a:r>
              <a:rPr lang="en-US" dirty="0"/>
              <a:t> the light is allowed to enter</a:t>
            </a:r>
          </a:p>
          <a:p>
            <a:r>
              <a:rPr lang="en-US" dirty="0"/>
              <a:t>In film cameras, the image was recorded on </a:t>
            </a:r>
            <a:r>
              <a:rPr lang="en-US" b="1" dirty="0"/>
              <a:t>film</a:t>
            </a:r>
            <a:r>
              <a:rPr lang="en-US" dirty="0"/>
              <a:t>, which then required scanning to become digital.</a:t>
            </a:r>
            <a:br>
              <a:rPr lang="en-US" dirty="0"/>
            </a:br>
            <a:r>
              <a:rPr lang="en-US" dirty="0"/>
              <a:t>In digital cameras, the film is replaced by an </a:t>
            </a:r>
            <a:r>
              <a:rPr lang="en-US" b="1" dirty="0"/>
              <a:t>electronic sensor</a:t>
            </a:r>
            <a:r>
              <a:rPr lang="en-US" dirty="0"/>
              <a:t>, which directly converts light into electrical signals.</a:t>
            </a:r>
          </a:p>
          <a:p>
            <a:r>
              <a:rPr lang="en-US" dirty="0"/>
              <a:t>Those signals are immediately </a:t>
            </a:r>
            <a:r>
              <a:rPr lang="en-US" b="1" dirty="0"/>
              <a:t>sampled and </a:t>
            </a:r>
            <a:r>
              <a:rPr lang="en-US" b="1" dirty="0" err="1"/>
              <a:t>quantised</a:t>
            </a:r>
            <a:r>
              <a:rPr lang="en-US" dirty="0"/>
              <a:t>, producing a digital image that can be stored, displayed, or processed by a computer.</a:t>
            </a:r>
          </a:p>
          <a:p>
            <a:r>
              <a:rPr lang="en-US" dirty="0"/>
              <a:t>The important point for this course is that </a:t>
            </a:r>
            <a:r>
              <a:rPr lang="en-US" b="1" dirty="0"/>
              <a:t>image quality is strongly influenced at this stage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Incorrect exposure, motion blur, or poor sensor resolution cannot be fully corrected later using image processing algorithms.</a:t>
            </a:r>
          </a:p>
          <a:p>
            <a:r>
              <a:rPr lang="en-US" dirty="0"/>
              <a:t>Therefore, image acquisition is not just a hardware issue—it defines the </a:t>
            </a:r>
            <a:r>
              <a:rPr lang="en-US" b="1" dirty="0"/>
              <a:t>upper limit of performance</a:t>
            </a:r>
            <a:r>
              <a:rPr lang="en-US" dirty="0"/>
              <a:t> for all subsequent image processing and analysis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441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In the real world, images are continuous.</a:t>
                </a:r>
                <a:br>
                  <a:rPr lang="en-GB" dirty="0"/>
                </a:br>
                <a:r>
                  <a:rPr lang="en-GB" dirty="0"/>
                  <a:t>In a computer, images must be </a:t>
                </a:r>
                <a:r>
                  <a:rPr lang="en-GB" b="1" dirty="0"/>
                  <a:t>discrete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To achieve this, we divide the image into a </a:t>
                </a:r>
                <a:r>
                  <a:rPr lang="en-GB" b="1" dirty="0"/>
                  <a:t>rectangular grid of pixels</a:t>
                </a:r>
                <a:r>
                  <a:rPr lang="en-GB" dirty="0"/>
                  <a:t>, denoted mathematically as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sepChr m:val=","/>
                        <m:ctrlP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d>
                  </m:oMath>
                </a14:m>
                <a:r>
                  <a:rPr lang="ar-SA" dirty="0"/>
                  <a:t>.</a:t>
                </a:r>
              </a:p>
              <a:p>
                <a:r>
                  <a:rPr lang="en-GB" dirty="0"/>
                  <a:t>Each pixel stores a </a:t>
                </a:r>
                <a:r>
                  <a:rPr lang="en-GB" b="1" dirty="0"/>
                  <a:t>single numerical intensity value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In a grayscale image, this value is typically normalised between </a:t>
                </a:r>
                <a:r>
                  <a:rPr lang="en-GB" b="1" dirty="0"/>
                  <a:t>0 and 1</a:t>
                </a:r>
                <a:r>
                  <a:rPr lang="en-GB" dirty="0"/>
                  <a:t>:</a:t>
                </a:r>
              </a:p>
              <a:p>
                <a:r>
                  <a:rPr lang="en-GB" dirty="0"/>
                  <a:t>0 represents </a:t>
                </a:r>
                <a:r>
                  <a:rPr lang="en-GB" b="1" dirty="0"/>
                  <a:t>black</a:t>
                </a:r>
                <a:endParaRPr lang="en-GB" dirty="0"/>
              </a:p>
              <a:p>
                <a:r>
                  <a:rPr lang="en-GB" dirty="0"/>
                  <a:t>1 represents </a:t>
                </a:r>
                <a:r>
                  <a:rPr lang="en-GB" b="1" dirty="0"/>
                  <a:t>white</a:t>
                </a:r>
                <a:endParaRPr lang="en-GB" dirty="0"/>
              </a:p>
              <a:p>
                <a:r>
                  <a:rPr lang="en-GB" dirty="0"/>
                  <a:t>values in between represent different shades of </a:t>
                </a:r>
                <a:r>
                  <a:rPr lang="en-GB" b="1" dirty="0"/>
                  <a:t>grey</a:t>
                </a:r>
                <a:endParaRPr lang="en-GB" dirty="0"/>
              </a:p>
              <a:p>
                <a:r>
                  <a:rPr lang="en-GB" dirty="0"/>
                  <a:t>When we talk about image size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en-GB" dirty="0"/>
                  <a:t>, we are referring to </a:t>
                </a:r>
                <a:r>
                  <a:rPr lang="en-GB" b="1" dirty="0"/>
                  <a:t>m rows and n columns of pixels</a:t>
                </a:r>
                <a:r>
                  <a:rPr lang="en-GB" dirty="0"/>
                  <a:t>, resulting in a total of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en-GB" dirty="0"/>
                  <a:t>numbers stored in memory.</a:t>
                </a:r>
              </a:p>
              <a:p>
                <a:r>
                  <a:rPr lang="en-GB" dirty="0"/>
                  <a:t>The zoomed-in image on this slide illustrates an important consequence of discretisation:</a:t>
                </a:r>
                <a:br>
                  <a:rPr lang="en-GB" dirty="0"/>
                </a:br>
                <a:r>
                  <a:rPr lang="en-GB" dirty="0"/>
                  <a:t>when we enlarge a digital image, we eventually see </a:t>
                </a:r>
                <a:r>
                  <a:rPr lang="en-GB" b="1" dirty="0"/>
                  <a:t>individual square pixels</a:t>
                </a:r>
                <a:r>
                  <a:rPr lang="en-GB" dirty="0"/>
                  <a:t> rather than smooth edges.</a:t>
                </a:r>
              </a:p>
              <a:p>
                <a:r>
                  <a:rPr lang="en-GB" dirty="0"/>
                  <a:t>This pixel grid is not a limitation of display—it is a fundamental property of digital images.</a:t>
                </a:r>
                <a:br>
                  <a:rPr lang="en-GB" dirty="0"/>
                </a:br>
                <a:r>
                  <a:rPr lang="en-GB" dirty="0"/>
                  <a:t>All image processing operations—filtering, enhancement, segmentation—operate on these pixel values.</a:t>
                </a:r>
              </a:p>
              <a:p>
                <a:r>
                  <a:rPr lang="en-GB" dirty="0"/>
                  <a:t>From a mathematical perspective, an image is simply a </a:t>
                </a:r>
                <a:r>
                  <a:rPr lang="en-GB" b="1" dirty="0"/>
                  <a:t>matrix of numbers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Once we accept this, techniques from </a:t>
                </a:r>
                <a:r>
                  <a:rPr lang="en-GB" b="1" dirty="0"/>
                  <a:t>linear algebra, statistics, and optimisation</a:t>
                </a:r>
                <a:r>
                  <a:rPr lang="en-GB" dirty="0"/>
                  <a:t> naturally apply.</a:t>
                </a:r>
              </a:p>
              <a:p>
                <a:r>
                  <a:rPr lang="en-GB" dirty="0"/>
                  <a:t>Later in the course, we will see how changing pixel values locally or globally allows us to enhance contrast, remove noise, detect edges, and recognise objects.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In the real world, images are continuous.</a:t>
                </a:r>
                <a:br>
                  <a:rPr lang="en-GB" dirty="0"/>
                </a:br>
                <a:r>
                  <a:rPr lang="en-GB" dirty="0"/>
                  <a:t>In a computer, images must be </a:t>
                </a:r>
                <a:r>
                  <a:rPr lang="en-GB" b="1" dirty="0"/>
                  <a:t>discrete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To achieve this, we divide the image into a </a:t>
                </a:r>
                <a:r>
                  <a:rPr lang="en-GB" b="1" dirty="0"/>
                  <a:t>rectangular grid of pixels</a:t>
                </a:r>
                <a:r>
                  <a:rPr lang="en-GB" dirty="0"/>
                  <a:t>, denoted mathematically as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(𝑥ⓜ,𝑦)</a:t>
                </a:r>
                <a:r>
                  <a:rPr lang="ar-SA" dirty="0"/>
                  <a:t>.</a:t>
                </a:r>
              </a:p>
              <a:p>
                <a:r>
                  <a:rPr lang="en-GB" dirty="0"/>
                  <a:t>Each pixel stores a </a:t>
                </a:r>
                <a:r>
                  <a:rPr lang="en-GB" b="1" dirty="0"/>
                  <a:t>single numerical intensity value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In a grayscale image, this value is typically normalised between </a:t>
                </a:r>
                <a:r>
                  <a:rPr lang="en-GB" b="1" dirty="0"/>
                  <a:t>0 and 1</a:t>
                </a:r>
                <a:r>
                  <a:rPr lang="en-GB" dirty="0"/>
                  <a:t>:</a:t>
                </a:r>
              </a:p>
              <a:p>
                <a:r>
                  <a:rPr lang="en-GB" dirty="0"/>
                  <a:t>0 represents </a:t>
                </a:r>
                <a:r>
                  <a:rPr lang="en-GB" b="1" dirty="0"/>
                  <a:t>black</a:t>
                </a:r>
                <a:endParaRPr lang="en-GB" dirty="0"/>
              </a:p>
              <a:p>
                <a:r>
                  <a:rPr lang="en-GB" dirty="0"/>
                  <a:t>1 represents </a:t>
                </a:r>
                <a:r>
                  <a:rPr lang="en-GB" b="1" dirty="0"/>
                  <a:t>white</a:t>
                </a:r>
                <a:endParaRPr lang="en-GB" dirty="0"/>
              </a:p>
              <a:p>
                <a:r>
                  <a:rPr lang="en-GB" dirty="0"/>
                  <a:t>values in between represent different shades of </a:t>
                </a:r>
                <a:r>
                  <a:rPr lang="en-GB" b="1" dirty="0"/>
                  <a:t>grey</a:t>
                </a:r>
                <a:endParaRPr lang="en-GB" dirty="0"/>
              </a:p>
              <a:p>
                <a:r>
                  <a:rPr lang="en-GB" dirty="0"/>
                  <a:t>When we talk about image size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𝑚×𝑛</a:t>
                </a:r>
                <a:r>
                  <a:rPr lang="en-GB" dirty="0"/>
                  <a:t>, we are referring to </a:t>
                </a:r>
                <a:r>
                  <a:rPr lang="en-GB" b="1" dirty="0"/>
                  <a:t>m rows and n columns of pixels</a:t>
                </a:r>
                <a:r>
                  <a:rPr lang="en-GB" dirty="0"/>
                  <a:t>, resulting in a total of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𝑚×𝑛</a:t>
                </a:r>
                <a:r>
                  <a:rPr lang="en-GB" dirty="0"/>
                  <a:t>numbers stored in memory.</a:t>
                </a:r>
              </a:p>
              <a:p>
                <a:r>
                  <a:rPr lang="en-GB" dirty="0"/>
                  <a:t>The zoomed-in image on this slide illustrates an important consequence of discretisation:</a:t>
                </a:r>
                <a:br>
                  <a:rPr lang="en-GB" dirty="0"/>
                </a:br>
                <a:r>
                  <a:rPr lang="en-GB" dirty="0"/>
                  <a:t>when we enlarge a digital image, we eventually see </a:t>
                </a:r>
                <a:r>
                  <a:rPr lang="en-GB" b="1" dirty="0"/>
                  <a:t>individual square pixels</a:t>
                </a:r>
                <a:r>
                  <a:rPr lang="en-GB" dirty="0"/>
                  <a:t> rather than smooth edges.</a:t>
                </a:r>
              </a:p>
              <a:p>
                <a:r>
                  <a:rPr lang="en-GB" dirty="0"/>
                  <a:t>This pixel grid is not a limitation of display—it is a fundamental property of digital images.</a:t>
                </a:r>
                <a:br>
                  <a:rPr lang="en-GB" dirty="0"/>
                </a:br>
                <a:r>
                  <a:rPr lang="en-GB" dirty="0"/>
                  <a:t>All image processing operations—filtering, enhancement, segmentation—operate on these pixel values.</a:t>
                </a:r>
              </a:p>
              <a:p>
                <a:r>
                  <a:rPr lang="en-GB" dirty="0"/>
                  <a:t>From a mathematical perspective, an image is simply a </a:t>
                </a:r>
                <a:r>
                  <a:rPr lang="en-GB" b="1" dirty="0"/>
                  <a:t>matrix of numbers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Once we accept this, techniques from </a:t>
                </a:r>
                <a:r>
                  <a:rPr lang="en-GB" b="1" dirty="0"/>
                  <a:t>linear algebra, statistics, and optimisation</a:t>
                </a:r>
                <a:r>
                  <a:rPr lang="en-GB" dirty="0"/>
                  <a:t> naturally apply.</a:t>
                </a:r>
              </a:p>
              <a:p>
                <a:r>
                  <a:rPr lang="en-GB" dirty="0"/>
                  <a:t>Later in the course, we will see how changing pixel values locally or globally allows us to enhance contrast, remove noise, detect edges, and recognise objects.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1575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Up to now, we have discussed grayscale images, where each pixel stores a single intensity value.</a:t>
                </a:r>
                <a:br>
                  <a:rPr lang="en-GB" dirty="0"/>
                </a:br>
                <a:r>
                  <a:rPr lang="en-GB" dirty="0"/>
                  <a:t>A </a:t>
                </a:r>
                <a:r>
                  <a:rPr lang="en-GB" b="1" dirty="0"/>
                  <a:t>colour image</a:t>
                </a:r>
                <a:r>
                  <a:rPr lang="en-GB" dirty="0"/>
                  <a:t> extends this idea by storing </a:t>
                </a:r>
                <a:r>
                  <a:rPr lang="en-GB" b="1" dirty="0"/>
                  <a:t>multiple intensity values per pixel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The most common colour representation is </a:t>
                </a:r>
                <a:r>
                  <a:rPr lang="en-GB" b="1" dirty="0"/>
                  <a:t>RGB</a:t>
                </a:r>
                <a:r>
                  <a:rPr lang="en-GB" dirty="0"/>
                  <a:t>, which stands for </a:t>
                </a:r>
                <a:r>
                  <a:rPr lang="en-GB" b="1" dirty="0"/>
                  <a:t>Red, Green, and Blue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Each pixel is represented by a </a:t>
                </a:r>
                <a:r>
                  <a:rPr lang="en-GB" b="1" dirty="0"/>
                  <a:t>three-element vector</a:t>
                </a:r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𝐺</m:t>
                          </m:r>
                        </m:e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SA" dirty="0"/>
              </a:p>
              <a:p>
                <a:r>
                  <a:rPr lang="en-GB" dirty="0"/>
                  <a:t>where each component typically lies between 0 and 1.</a:t>
                </a:r>
              </a:p>
              <a:p>
                <a:r>
                  <a:rPr lang="en-GB" dirty="0"/>
                  <a:t>The pure colours shown at the top illustrate the basis vectors of RGB space:</a:t>
                </a:r>
              </a:p>
              <a:p>
                <a:r>
                  <a:rPr lang="en-GB" dirty="0"/>
                  <a:t>Red = (1, 0, 0)</a:t>
                </a:r>
              </a:p>
              <a:p>
                <a:r>
                  <a:rPr lang="en-GB" dirty="0"/>
                  <a:t>Green = (0, 1, 0)</a:t>
                </a:r>
              </a:p>
              <a:p>
                <a:r>
                  <a:rPr lang="en-GB" dirty="0"/>
                  <a:t>Blue = (0, 0, 1)</a:t>
                </a:r>
              </a:p>
              <a:p>
                <a:r>
                  <a:rPr lang="en-GB" dirty="0"/>
                  <a:t>Any colour can be formed by </a:t>
                </a:r>
                <a:r>
                  <a:rPr lang="en-GB" b="1" dirty="0"/>
                  <a:t>linearly combining</a:t>
                </a:r>
                <a:r>
                  <a:rPr lang="en-GB" dirty="0"/>
                  <a:t> these three components.</a:t>
                </a:r>
                <a:br>
                  <a:rPr lang="en-GB" dirty="0"/>
                </a:br>
                <a:r>
                  <a:rPr lang="en-GB" dirty="0"/>
                  <a:t>For example, the diagram on the right shows a colour generated by combining:</a:t>
                </a:r>
              </a:p>
              <a:p>
                <a:r>
                  <a:rPr lang="en-GB" dirty="0"/>
                  <a:t>0.6 of red</a:t>
                </a:r>
              </a:p>
              <a:p>
                <a:r>
                  <a:rPr lang="en-GB" dirty="0"/>
                  <a:t>0.0 of green</a:t>
                </a:r>
              </a:p>
              <a:p>
                <a:r>
                  <a:rPr lang="en-GB" dirty="0"/>
                  <a:t>0.8 of blue</a:t>
                </a:r>
                <a:br>
                  <a:rPr lang="en-GB" dirty="0"/>
                </a:br>
                <a:r>
                  <a:rPr lang="en-GB" dirty="0"/>
                  <a:t>which produces a purple colour.</a:t>
                </a:r>
              </a:p>
              <a:p>
                <a:r>
                  <a:rPr lang="en-GB" dirty="0"/>
                  <a:t>From a computational perspective, this is extremely important:</a:t>
                </a:r>
                <a:br>
                  <a:rPr lang="en-GB" dirty="0"/>
                </a:br>
                <a:r>
                  <a:rPr lang="en-GB" dirty="0"/>
                  <a:t>a colour image is simply </a:t>
                </a:r>
                <a:r>
                  <a:rPr lang="en-GB" b="1" dirty="0"/>
                  <a:t>three grayscale images stacked together</a:t>
                </a:r>
                <a:r>
                  <a:rPr lang="en-GB" dirty="0"/>
                  <a:t>—one for each channel.</a:t>
                </a:r>
              </a:p>
              <a:p>
                <a:r>
                  <a:rPr lang="en-GB" dirty="0"/>
                  <a:t>The images at the bottom demonstrate this separation.</a:t>
                </a:r>
                <a:br>
                  <a:rPr lang="en-GB" dirty="0"/>
                </a:br>
                <a:r>
                  <a:rPr lang="en-GB" dirty="0"/>
                  <a:t>The original image is decomposed into its </a:t>
                </a:r>
                <a:r>
                  <a:rPr lang="en-GB" b="1" dirty="0"/>
                  <a:t>red, green, and blue channels</a:t>
                </a:r>
                <a:r>
                  <a:rPr lang="en-GB" dirty="0"/>
                  <a:t>, each of which can be processed independently or jointly.</a:t>
                </a:r>
              </a:p>
              <a:p>
                <a:r>
                  <a:rPr lang="en-GB" dirty="0"/>
                  <a:t>This representation allows us to:</a:t>
                </a:r>
              </a:p>
              <a:p>
                <a:r>
                  <a:rPr lang="en-GB" dirty="0"/>
                  <a:t>Enhance or suppress specific colours</a:t>
                </a:r>
              </a:p>
              <a:p>
                <a:r>
                  <a:rPr lang="en-GB" dirty="0"/>
                  <a:t>Perform colour-based segmentation</a:t>
                </a:r>
              </a:p>
              <a:p>
                <a:r>
                  <a:rPr lang="en-GB" dirty="0"/>
                  <a:t>Convert between colour spaces such as RGB, HSV, and </a:t>
                </a:r>
                <a:r>
                  <a:rPr lang="en-GB" dirty="0" err="1"/>
                  <a:t>YCbCr</a:t>
                </a:r>
                <a:endParaRPr lang="en-GB" dirty="0"/>
              </a:p>
              <a:p>
                <a:r>
                  <a:rPr lang="en-GB" dirty="0"/>
                  <a:t>Throughout this course, we will often treat colour images as </a:t>
                </a:r>
                <a:r>
                  <a:rPr lang="en-GB" b="1" dirty="0"/>
                  <a:t>three-dimensional data structures</a:t>
                </a:r>
                <a:r>
                  <a:rPr lang="en-GB" dirty="0"/>
                  <a:t>, with dimensions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Up to now, we have discussed grayscale images, where each pixel stores a single intensity value.</a:t>
                </a:r>
                <a:br>
                  <a:rPr lang="en-GB" dirty="0"/>
                </a:br>
                <a:r>
                  <a:rPr lang="en-GB" dirty="0"/>
                  <a:t>A </a:t>
                </a:r>
                <a:r>
                  <a:rPr lang="en-GB" b="1" dirty="0"/>
                  <a:t>colour image</a:t>
                </a:r>
                <a:r>
                  <a:rPr lang="en-GB" dirty="0"/>
                  <a:t> extends this idea by storing </a:t>
                </a:r>
                <a:r>
                  <a:rPr lang="en-GB" b="1" dirty="0"/>
                  <a:t>multiple intensity values per pixel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The most common colour representation is </a:t>
                </a:r>
                <a:r>
                  <a:rPr lang="en-GB" b="1" dirty="0"/>
                  <a:t>RGB</a:t>
                </a:r>
                <a:r>
                  <a:rPr lang="en-GB" dirty="0"/>
                  <a:t>, which stands for </a:t>
                </a:r>
                <a:r>
                  <a:rPr lang="en-GB" b="1" dirty="0"/>
                  <a:t>Red, Green, and Blue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Each pixel is represented by a </a:t>
                </a:r>
                <a:r>
                  <a:rPr lang="en-GB" b="1" dirty="0"/>
                  <a:t>three-element vector</a:t>
                </a:r>
                <a:r>
                  <a:rPr lang="en-GB" dirty="0"/>
                  <a:t>:</a:t>
                </a:r>
              </a:p>
              <a:p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(𝑅ⓜ,𝐺ⓜ,𝐵)</a:t>
                </a:r>
                <a:endParaRPr lang="ar-SA" dirty="0"/>
              </a:p>
              <a:p>
                <a:r>
                  <a:rPr lang="en-GB" dirty="0"/>
                  <a:t>where each component typically lies between 0 and 1.</a:t>
                </a:r>
              </a:p>
              <a:p>
                <a:r>
                  <a:rPr lang="en-GB" dirty="0"/>
                  <a:t>The pure colours shown at the top illustrate the basis vectors of RGB space:</a:t>
                </a:r>
              </a:p>
              <a:p>
                <a:r>
                  <a:rPr lang="en-GB" dirty="0"/>
                  <a:t>Red = (1, 0, 0)</a:t>
                </a:r>
              </a:p>
              <a:p>
                <a:r>
                  <a:rPr lang="en-GB" dirty="0"/>
                  <a:t>Green = (0, 1, 0)</a:t>
                </a:r>
              </a:p>
              <a:p>
                <a:r>
                  <a:rPr lang="en-GB" dirty="0"/>
                  <a:t>Blue = (0, 0, 1)</a:t>
                </a:r>
              </a:p>
              <a:p>
                <a:r>
                  <a:rPr lang="en-GB" dirty="0"/>
                  <a:t>Any colour can be formed by </a:t>
                </a:r>
                <a:r>
                  <a:rPr lang="en-GB" b="1" dirty="0"/>
                  <a:t>linearly combining</a:t>
                </a:r>
                <a:r>
                  <a:rPr lang="en-GB" dirty="0"/>
                  <a:t> these three components.</a:t>
                </a:r>
                <a:br>
                  <a:rPr lang="en-GB" dirty="0"/>
                </a:br>
                <a:r>
                  <a:rPr lang="en-GB" dirty="0"/>
                  <a:t>For example, the diagram on the right shows a colour generated by combining:</a:t>
                </a:r>
              </a:p>
              <a:p>
                <a:r>
                  <a:rPr lang="en-GB" dirty="0"/>
                  <a:t>0.6 of red</a:t>
                </a:r>
              </a:p>
              <a:p>
                <a:r>
                  <a:rPr lang="en-GB" dirty="0"/>
                  <a:t>0.0 of green</a:t>
                </a:r>
              </a:p>
              <a:p>
                <a:r>
                  <a:rPr lang="en-GB" dirty="0"/>
                  <a:t>0.8 of blue</a:t>
                </a:r>
                <a:br>
                  <a:rPr lang="en-GB" dirty="0"/>
                </a:br>
                <a:r>
                  <a:rPr lang="en-GB" dirty="0"/>
                  <a:t>which produces a purple colour.</a:t>
                </a:r>
              </a:p>
              <a:p>
                <a:r>
                  <a:rPr lang="en-GB" dirty="0"/>
                  <a:t>From a computational perspective, this is extremely important:</a:t>
                </a:r>
                <a:br>
                  <a:rPr lang="en-GB" dirty="0"/>
                </a:br>
                <a:r>
                  <a:rPr lang="en-GB" dirty="0"/>
                  <a:t>a colour image is simply </a:t>
                </a:r>
                <a:r>
                  <a:rPr lang="en-GB" b="1" dirty="0"/>
                  <a:t>three grayscale images stacked together</a:t>
                </a:r>
                <a:r>
                  <a:rPr lang="en-GB" dirty="0"/>
                  <a:t>—one for each channel.</a:t>
                </a:r>
              </a:p>
              <a:p>
                <a:r>
                  <a:rPr lang="en-GB" dirty="0"/>
                  <a:t>The images at the bottom demonstrate this separation.</a:t>
                </a:r>
                <a:br>
                  <a:rPr lang="en-GB" dirty="0"/>
                </a:br>
                <a:r>
                  <a:rPr lang="en-GB" dirty="0"/>
                  <a:t>The original image is decomposed into its </a:t>
                </a:r>
                <a:r>
                  <a:rPr lang="en-GB" b="1" dirty="0"/>
                  <a:t>red, green, and blue channels</a:t>
                </a:r>
                <a:r>
                  <a:rPr lang="en-GB" dirty="0"/>
                  <a:t>, each of which can be processed independently or jointly.</a:t>
                </a:r>
              </a:p>
              <a:p>
                <a:r>
                  <a:rPr lang="en-GB" dirty="0"/>
                  <a:t>This representation allows us to:</a:t>
                </a:r>
              </a:p>
              <a:p>
                <a:r>
                  <a:rPr lang="en-GB" dirty="0"/>
                  <a:t>Enhance or suppress specific colours</a:t>
                </a:r>
              </a:p>
              <a:p>
                <a:r>
                  <a:rPr lang="en-GB" dirty="0"/>
                  <a:t>Perform colour-based segmentation</a:t>
                </a:r>
              </a:p>
              <a:p>
                <a:r>
                  <a:rPr lang="en-GB" dirty="0"/>
                  <a:t>Convert between colour spaces such as RGB, HSV, and </a:t>
                </a:r>
                <a:r>
                  <a:rPr lang="en-GB" dirty="0" err="1"/>
                  <a:t>YCbCr</a:t>
                </a:r>
                <a:endParaRPr lang="en-GB" dirty="0"/>
              </a:p>
              <a:p>
                <a:r>
                  <a:rPr lang="en-GB" dirty="0"/>
                  <a:t>Throughout this course, we will often treat colour images as </a:t>
                </a:r>
                <a:r>
                  <a:rPr lang="en-GB" b="1" dirty="0"/>
                  <a:t>three-dimensional data structures</a:t>
                </a:r>
                <a:r>
                  <a:rPr lang="en-GB" dirty="0"/>
                  <a:t>, with dimensions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𝑚×𝑛×3</a:t>
                </a:r>
                <a:r>
                  <a:rPr lang="en-GB" dirty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2626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In most standard video systems, video is recorded at </a:t>
                </a:r>
                <a:r>
                  <a:rPr lang="en-GB" b="1" dirty="0"/>
                  <a:t>30 frames per second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This means that every second of video consists of </a:t>
                </a:r>
                <a:r>
                  <a:rPr lang="en-GB" b="1" dirty="0"/>
                  <a:t>30 individual still images</a:t>
                </a:r>
                <a:r>
                  <a:rPr lang="en-GB" dirty="0"/>
                  <a:t>, or frames.</a:t>
                </a:r>
              </a:p>
              <a:p>
                <a:r>
                  <a:rPr lang="en-GB" dirty="0"/>
                  <a:t>Each frame is a </a:t>
                </a:r>
                <a:r>
                  <a:rPr lang="en-GB" b="1" dirty="0"/>
                  <a:t>complete digital image</a:t>
                </a:r>
                <a:r>
                  <a:rPr lang="en-GB" dirty="0"/>
                  <a:t>, with the same structure we discussed earlier:</a:t>
                </a:r>
                <a:br>
                  <a:rPr lang="en-GB" dirty="0"/>
                </a:br>
                <a:r>
                  <a:rPr lang="en-GB" dirty="0"/>
                  <a:t>a grid of pixels, possibly with multiple colour channels.</a:t>
                </a:r>
              </a:p>
              <a:p>
                <a:r>
                  <a:rPr lang="en-GB" dirty="0"/>
                  <a:t>What creates the perception of motion is not anything special in the images themselves, but the </a:t>
                </a:r>
                <a:r>
                  <a:rPr lang="en-GB" b="1" dirty="0"/>
                  <a:t>temporal sampling rate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When frames are displayed quickly enough, the human visual system perceives continuous motion rather than discrete images.</a:t>
                </a:r>
              </a:p>
              <a:p>
                <a:r>
                  <a:rPr lang="en-GB" dirty="0"/>
                  <a:t>From an image processing perspective, this is powerful because it means that </a:t>
                </a:r>
                <a:r>
                  <a:rPr lang="en-GB" b="1" dirty="0"/>
                  <a:t>many image algorithms can be applied frame by frame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For example, enhancement, noise reduction, and edge detection can be performed independently on each frame.</a:t>
                </a:r>
              </a:p>
              <a:p>
                <a:r>
                  <a:rPr lang="en-GB" dirty="0"/>
                  <a:t>However, video also introduces a </a:t>
                </a:r>
                <a:r>
                  <a:rPr lang="en-GB" b="1" dirty="0"/>
                  <a:t>time dimension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This allows us to analyse motion, track objects, estimate velocity, and detect events—tasks that are not possible with a single image.</a:t>
                </a:r>
              </a:p>
              <a:p>
                <a:r>
                  <a:rPr lang="en-GB" dirty="0"/>
                  <a:t>Mathematically, we can think of a video as a </a:t>
                </a:r>
                <a:r>
                  <a:rPr lang="en-GB" b="1" dirty="0"/>
                  <a:t>three-dimensional signal</a:t>
                </a:r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d>
                        <m:dPr>
                          <m:sepChr m:val=","/>
                          <m:ctrlP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SA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GB" dirty="0"/>
                  <a:t>represent spatial coordinates, and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en-GB" dirty="0"/>
                  <a:t>represents time.</a:t>
                </a:r>
              </a:p>
              <a:p>
                <a:r>
                  <a:rPr lang="en-GB" dirty="0"/>
                  <a:t>Later in the course, we will see how temporal information is exploited in applications such as video compression, surveillance, and action recognition.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In most standard video systems, video is recorded at </a:t>
                </a:r>
                <a:r>
                  <a:rPr lang="en-GB" b="1" dirty="0"/>
                  <a:t>30 frames per second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This means that every second of video consists of </a:t>
                </a:r>
                <a:r>
                  <a:rPr lang="en-GB" b="1" dirty="0"/>
                  <a:t>30 individual still images</a:t>
                </a:r>
                <a:r>
                  <a:rPr lang="en-GB" dirty="0"/>
                  <a:t>, or frames.</a:t>
                </a:r>
              </a:p>
              <a:p>
                <a:r>
                  <a:rPr lang="en-GB" dirty="0"/>
                  <a:t>Each frame is a </a:t>
                </a:r>
                <a:r>
                  <a:rPr lang="en-GB" b="1" dirty="0"/>
                  <a:t>complete digital image</a:t>
                </a:r>
                <a:r>
                  <a:rPr lang="en-GB" dirty="0"/>
                  <a:t>, with the same structure we discussed earlier:</a:t>
                </a:r>
                <a:br>
                  <a:rPr lang="en-GB" dirty="0"/>
                </a:br>
                <a:r>
                  <a:rPr lang="en-GB" dirty="0"/>
                  <a:t>a grid of pixels, possibly with multiple colour channels.</a:t>
                </a:r>
              </a:p>
              <a:p>
                <a:r>
                  <a:rPr lang="en-GB" dirty="0"/>
                  <a:t>What creates the perception of motion is not anything special in the images themselves, but the </a:t>
                </a:r>
                <a:r>
                  <a:rPr lang="en-GB" b="1" dirty="0"/>
                  <a:t>temporal sampling rate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When frames are displayed quickly enough, the human visual system perceives continuous motion rather than discrete images.</a:t>
                </a:r>
              </a:p>
              <a:p>
                <a:r>
                  <a:rPr lang="en-GB" dirty="0"/>
                  <a:t>From an image processing perspective, this is powerful because it means that </a:t>
                </a:r>
                <a:r>
                  <a:rPr lang="en-GB" b="1" dirty="0"/>
                  <a:t>many image algorithms can be applied frame by frame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For example, enhancement, noise reduction, and edge detection can be performed independently on each frame.</a:t>
                </a:r>
              </a:p>
              <a:p>
                <a:r>
                  <a:rPr lang="en-GB" dirty="0"/>
                  <a:t>However, video also introduces a </a:t>
                </a:r>
                <a:r>
                  <a:rPr lang="en-GB" b="1" dirty="0"/>
                  <a:t>time dimension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This allows us to analyse motion, track objects, estimate velocity, and detect events—tasks that are not possible with a single image.</a:t>
                </a:r>
              </a:p>
              <a:p>
                <a:r>
                  <a:rPr lang="en-GB" dirty="0"/>
                  <a:t>Mathematically, we can think of a video as a </a:t>
                </a:r>
                <a:r>
                  <a:rPr lang="en-GB" b="1" dirty="0"/>
                  <a:t>three-dimensional signal</a:t>
                </a:r>
                <a:r>
                  <a:rPr lang="en-GB" dirty="0"/>
                  <a:t>:</a:t>
                </a:r>
              </a:p>
              <a:p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(𝑥ⓜ,𝑦ⓜ,𝑡)</a:t>
                </a:r>
                <a:endParaRPr lang="ar-SA" dirty="0"/>
              </a:p>
              <a:p>
                <a:r>
                  <a:rPr lang="en-GB" dirty="0"/>
                  <a:t>where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GB" dirty="0"/>
                  <a:t>and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GB" dirty="0"/>
                  <a:t>represent spatial coordinates, and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en-GB" dirty="0"/>
                  <a:t>represents time.</a:t>
                </a:r>
              </a:p>
              <a:p>
                <a:r>
                  <a:rPr lang="en-GB" dirty="0"/>
                  <a:t>Later in the course, we will see how temporal information is exploited in applications such as video compression, surveillance, and action recognition.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321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enhancement refers to techniques that </a:t>
            </a:r>
            <a:r>
              <a:rPr lang="en-US" b="1" dirty="0"/>
              <a:t>improve the visual appearance of an image</a:t>
            </a:r>
            <a:r>
              <a:rPr lang="en-US" dirty="0"/>
              <a:t> or make it more suitable for a specific task.</a:t>
            </a:r>
            <a:br>
              <a:rPr lang="en-US" dirty="0"/>
            </a:br>
            <a:r>
              <a:rPr lang="en-US" dirty="0"/>
              <a:t>The key point is that enhancement is </a:t>
            </a:r>
            <a:r>
              <a:rPr lang="en-US" b="1" dirty="0"/>
              <a:t>subjective</a:t>
            </a:r>
            <a:r>
              <a:rPr lang="en-US" dirty="0"/>
              <a:t>—what looks “better” depends on the observer or application.</a:t>
            </a:r>
          </a:p>
          <a:p>
            <a:r>
              <a:rPr lang="en-US" dirty="0"/>
              <a:t>In the example shown here, the image on the right appears clearer and more visually pleasing than the original on the left.</a:t>
            </a:r>
            <a:br>
              <a:rPr lang="en-US" dirty="0"/>
            </a:br>
            <a:r>
              <a:rPr lang="en-US" dirty="0"/>
              <a:t>This improvement may be due to adjustments in </a:t>
            </a:r>
            <a:r>
              <a:rPr lang="en-US" b="1" dirty="0"/>
              <a:t>brightness, contrast, </a:t>
            </a:r>
            <a:r>
              <a:rPr lang="en-US" b="1" dirty="0" err="1"/>
              <a:t>colour</a:t>
            </a:r>
            <a:r>
              <a:rPr lang="en-US" b="1" dirty="0"/>
              <a:t> balance, or sharpness</a:t>
            </a:r>
            <a:r>
              <a:rPr lang="en-US" dirty="0"/>
              <a:t>.</a:t>
            </a:r>
          </a:p>
          <a:p>
            <a:r>
              <a:rPr lang="en-US" dirty="0"/>
              <a:t>Image enhancement does </a:t>
            </a:r>
            <a:r>
              <a:rPr lang="en-US" b="1" dirty="0"/>
              <a:t>not attempt to recover the true original scene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Instead, it </a:t>
            </a:r>
            <a:r>
              <a:rPr lang="en-US" dirty="0" err="1"/>
              <a:t>emphasises</a:t>
            </a:r>
            <a:r>
              <a:rPr lang="en-US" dirty="0"/>
              <a:t> certain features while possibly suppressing others, often to aid human interpretation or subsequent processing.</a:t>
            </a:r>
          </a:p>
          <a:p>
            <a:r>
              <a:rPr lang="en-US" dirty="0"/>
              <a:t>Common enhancement techniques 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Contrast stretching and histogram </a:t>
            </a:r>
            <a:r>
              <a:rPr lang="en-US" dirty="0" err="1"/>
              <a:t>equalisation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Smoothing and sharpening filters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Colour</a:t>
            </a:r>
            <a:r>
              <a:rPr lang="en-US" dirty="0"/>
              <a:t> enhancement and gamma correction</a:t>
            </a:r>
          </a:p>
          <a:p>
            <a:r>
              <a:rPr lang="en-US" dirty="0"/>
              <a:t>It is important to distinguish enhancement from </a:t>
            </a:r>
            <a:r>
              <a:rPr lang="en-US" b="1" dirty="0"/>
              <a:t>image restoration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Enhancement is heuristic and visually driven, whereas restoration is model-based and aims to reverse known degradations such as blur or noise.</a:t>
            </a:r>
          </a:p>
          <a:p>
            <a:r>
              <a:rPr lang="en-US" dirty="0"/>
              <a:t>In many practical applications—such as medical imaging, surveillance, and photography—enhancement is used as a </a:t>
            </a:r>
            <a:r>
              <a:rPr lang="en-US" b="1" dirty="0"/>
              <a:t>pre-processing step</a:t>
            </a:r>
            <a:r>
              <a:rPr lang="en-US" dirty="0"/>
              <a:t> to improve visibility before segmentation or analysis.</a:t>
            </a:r>
          </a:p>
          <a:p>
            <a:r>
              <a:rPr lang="en-US" dirty="0"/>
              <a:t>Throughout this course, we will study enhancement techniques in both the </a:t>
            </a:r>
            <a:r>
              <a:rPr lang="en-US" b="1" dirty="0"/>
              <a:t>spatial domain</a:t>
            </a:r>
            <a:r>
              <a:rPr lang="en-US" dirty="0"/>
              <a:t> and the </a:t>
            </a:r>
            <a:r>
              <a:rPr lang="en-US" b="1" dirty="0"/>
              <a:t>frequency domain</a:t>
            </a:r>
            <a:r>
              <a:rPr lang="en-US" dirty="0"/>
              <a:t>, and evaluate how they affect image quality and interpretability.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1372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Image restoration addresses a fundamentally different problem from image enhancement.</a:t>
                </a:r>
                <a:br>
                  <a:rPr lang="en-GB" dirty="0"/>
                </a:br>
                <a:r>
                  <a:rPr lang="en-GB" dirty="0"/>
                  <a:t>While enhancement aims to improve visual appearance, </a:t>
                </a:r>
                <a:r>
                  <a:rPr lang="en-GB" b="1" dirty="0"/>
                  <a:t>restoration aims to recover the original, undistorted image</a:t>
                </a:r>
                <a:r>
                  <a:rPr lang="en-GB" dirty="0"/>
                  <a:t> as accurately as possible.</a:t>
                </a:r>
              </a:p>
              <a:p>
                <a:r>
                  <a:rPr lang="en-GB" dirty="0"/>
                  <a:t>The example shown here illustrates a degraded image on the left and a restored version on the right.</a:t>
                </a:r>
                <a:br>
                  <a:rPr lang="en-GB" dirty="0"/>
                </a:br>
                <a:r>
                  <a:rPr lang="en-GB" dirty="0"/>
                  <a:t>The degradation may be due to </a:t>
                </a:r>
                <a:r>
                  <a:rPr lang="en-GB" b="1" dirty="0"/>
                  <a:t>blur, noise, motion, sensor limitations, or aging of the medium</a:t>
                </a:r>
                <a:r>
                  <a:rPr lang="en-GB" dirty="0"/>
                  <a:t>, as is often the case with historical artwork or scanned images.</a:t>
                </a:r>
              </a:p>
              <a:p>
                <a:r>
                  <a:rPr lang="en-GB" dirty="0"/>
                  <a:t>The key characteristic of image restoration is that it is </a:t>
                </a:r>
                <a:r>
                  <a:rPr lang="en-GB" b="1" dirty="0"/>
                  <a:t>model-based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We assume that the observed image is the result of an original image that has been corrupted by a known or estimated degradation process.</a:t>
                </a:r>
              </a:p>
              <a:p>
                <a:r>
                  <a:rPr lang="en-GB" dirty="0"/>
                  <a:t>Mathematically, this is often expressed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  <m:d>
                        <m:dPr>
                          <m:sepChr m:val=","/>
                          <m:ctrlP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lang="ar-SA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SA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d>
                        <m:dPr>
                          <m:sepChr m:val=","/>
                          <m:ctrlP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lang="ar-SA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a:rPr lang="ar-SA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lang="ar-SA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SA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d>
                        <m:dPr>
                          <m:sepChr m:val=","/>
                          <m:ctrlP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e>
                          <m:r>
                            <a:rPr lang="ar-SA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ar-SA" dirty="0"/>
              </a:p>
              <a:p>
                <a:r>
                  <a:rPr lang="en-GB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sepChr m:val=","/>
                        <m:ctrlP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dirty="0"/>
                  <a:t>is the original image</a:t>
                </a:r>
              </a:p>
              <a:p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h</m:t>
                    </m:r>
                    <m:d>
                      <m:dPr>
                        <m:sepChr m:val=","/>
                        <m:ctrlP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dirty="0"/>
                  <a:t>is the degradation function</a:t>
                </a:r>
              </a:p>
              <a:p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d>
                      <m:dPr>
                        <m:sepChr m:val=","/>
                        <m:ctrlP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dirty="0"/>
                  <a:t>is noise</a:t>
                </a:r>
              </a:p>
              <a:p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𝑔</m:t>
                    </m:r>
                    <m:d>
                      <m:dPr>
                        <m:sepChr m:val=","/>
                        <m:ctrlP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e>
                        <m:r>
                          <a:rPr lang="ar-SA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dirty="0"/>
                  <a:t>is the observed image</a:t>
                </a:r>
              </a:p>
              <a:p>
                <a:r>
                  <a:rPr lang="en-GB" dirty="0"/>
                  <a:t>Restoration techniques attempt to </a:t>
                </a:r>
                <a:r>
                  <a:rPr lang="en-GB" b="1" dirty="0"/>
                  <a:t>invert or compensate for this degradation</a:t>
                </a:r>
                <a:r>
                  <a:rPr lang="en-GB" dirty="0"/>
                  <a:t>, using methods such as inverse filtering, Wiener filtering, or regularised optimisation.</a:t>
                </a:r>
              </a:p>
              <a:p>
                <a:r>
                  <a:rPr lang="en-GB" dirty="0"/>
                  <a:t>Unlike enhancement, restoration has an </a:t>
                </a:r>
                <a:r>
                  <a:rPr lang="en-GB" b="1" dirty="0"/>
                  <a:t>objective criterion</a:t>
                </a:r>
                <a:r>
                  <a:rPr lang="en-GB" dirty="0"/>
                  <a:t>:</a:t>
                </a:r>
                <a:br>
                  <a:rPr lang="en-GB" dirty="0"/>
                </a:br>
                <a:r>
                  <a:rPr lang="en-GB" dirty="0"/>
                  <a:t>how close the restored image is to the true original, even if the result does not necessarily look “prettier”.</a:t>
                </a:r>
              </a:p>
              <a:p>
                <a:r>
                  <a:rPr lang="en-GB" dirty="0"/>
                  <a:t>In applications such as medical imaging, astronomy, and remote sensing, restoration is critical because </a:t>
                </a:r>
                <a:r>
                  <a:rPr lang="en-GB" b="1" dirty="0"/>
                  <a:t>diagnostic accuracy depends on faithful signal recovery</a:t>
                </a:r>
                <a:r>
                  <a:rPr lang="en-GB" dirty="0"/>
                  <a:t>, not visual appeal.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Image restoration addresses a fundamentally different problem from image enhancement.</a:t>
                </a:r>
                <a:br>
                  <a:rPr lang="en-GB" dirty="0"/>
                </a:br>
                <a:r>
                  <a:rPr lang="en-GB" dirty="0"/>
                  <a:t>While enhancement aims to improve visual appearance, </a:t>
                </a:r>
                <a:r>
                  <a:rPr lang="en-GB" b="1" dirty="0"/>
                  <a:t>restoration aims to recover the original, undistorted image</a:t>
                </a:r>
                <a:r>
                  <a:rPr lang="en-GB" dirty="0"/>
                  <a:t> as accurately as possible.</a:t>
                </a:r>
              </a:p>
              <a:p>
                <a:r>
                  <a:rPr lang="en-GB" dirty="0"/>
                  <a:t>The example shown here illustrates a degraded image on the left and a restored version on the right.</a:t>
                </a:r>
                <a:br>
                  <a:rPr lang="en-GB" dirty="0"/>
                </a:br>
                <a:r>
                  <a:rPr lang="en-GB" dirty="0"/>
                  <a:t>The degradation may be due to </a:t>
                </a:r>
                <a:r>
                  <a:rPr lang="en-GB" b="1" dirty="0"/>
                  <a:t>blur, noise, motion, sensor limitations, or aging of the medium</a:t>
                </a:r>
                <a:r>
                  <a:rPr lang="en-GB" dirty="0"/>
                  <a:t>, as is often the case with historical artwork or scanned images.</a:t>
                </a:r>
              </a:p>
              <a:p>
                <a:r>
                  <a:rPr lang="en-GB" dirty="0"/>
                  <a:t>The key characteristic of image restoration is that it is </a:t>
                </a:r>
                <a:r>
                  <a:rPr lang="en-GB" b="1" dirty="0"/>
                  <a:t>model-based</a:t>
                </a:r>
                <a:r>
                  <a:rPr lang="en-GB" dirty="0"/>
                  <a:t>.</a:t>
                </a:r>
                <a:br>
                  <a:rPr lang="en-GB" dirty="0"/>
                </a:br>
                <a:r>
                  <a:rPr lang="en-GB" dirty="0"/>
                  <a:t>We assume that the observed image is the result of an original image that has been corrupted by a known or estimated degradation process.</a:t>
                </a:r>
              </a:p>
              <a:p>
                <a:r>
                  <a:rPr lang="en-GB" dirty="0"/>
                  <a:t>Mathematically, this is often expressed as:</a:t>
                </a:r>
              </a:p>
              <a:p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(𝑥ⓜ,𝑦)=ℎ(𝑥ⓜ,𝑦)∗𝑓(𝑥ⓜ,𝑦)+𝑛(𝑥ⓜ,𝑦)</a:t>
                </a:r>
                <a:endParaRPr lang="ar-SA" dirty="0"/>
              </a:p>
              <a:p>
                <a:r>
                  <a:rPr lang="en-GB" dirty="0"/>
                  <a:t>where:</a:t>
                </a:r>
              </a:p>
              <a:p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(𝑥ⓜ,𝑦)</a:t>
                </a:r>
                <a:r>
                  <a:rPr lang="en-GB" dirty="0"/>
                  <a:t>is the original image</a:t>
                </a:r>
              </a:p>
              <a:p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(𝑥ⓜ,𝑦)</a:t>
                </a:r>
                <a:r>
                  <a:rPr lang="en-GB" dirty="0"/>
                  <a:t>is the degradation function</a:t>
                </a:r>
              </a:p>
              <a:p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(𝑥ⓜ,𝑦)</a:t>
                </a:r>
                <a:r>
                  <a:rPr lang="en-GB" dirty="0"/>
                  <a:t>is noise</a:t>
                </a:r>
              </a:p>
              <a:p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ar-SA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(𝑥ⓜ,𝑦)</a:t>
                </a:r>
                <a:r>
                  <a:rPr lang="en-GB" dirty="0"/>
                  <a:t>is the observed image</a:t>
                </a:r>
              </a:p>
              <a:p>
                <a:r>
                  <a:rPr lang="en-GB" dirty="0"/>
                  <a:t>Restoration techniques attempt to </a:t>
                </a:r>
                <a:r>
                  <a:rPr lang="en-GB" b="1" dirty="0"/>
                  <a:t>invert or compensate for this degradation</a:t>
                </a:r>
                <a:r>
                  <a:rPr lang="en-GB" dirty="0"/>
                  <a:t>, using methods such as inverse filtering, Wiener filtering, or regularised optimisation.</a:t>
                </a:r>
              </a:p>
              <a:p>
                <a:r>
                  <a:rPr lang="en-GB" dirty="0"/>
                  <a:t>Unlike enhancement, restoration has an </a:t>
                </a:r>
                <a:r>
                  <a:rPr lang="en-GB" b="1" dirty="0"/>
                  <a:t>objective criterion</a:t>
                </a:r>
                <a:r>
                  <a:rPr lang="en-GB" dirty="0"/>
                  <a:t>:</a:t>
                </a:r>
                <a:br>
                  <a:rPr lang="en-GB" dirty="0"/>
                </a:br>
                <a:r>
                  <a:rPr lang="en-GB" dirty="0"/>
                  <a:t>how close the restored image is to the true original, even if the result does not necessarily look “prettier”.</a:t>
                </a:r>
              </a:p>
              <a:p>
                <a:r>
                  <a:rPr lang="en-GB" dirty="0"/>
                  <a:t>In applications such as medical imaging, astronomy, and remote sensing, restoration is critical because </a:t>
                </a:r>
                <a:r>
                  <a:rPr lang="en-GB" b="1" dirty="0"/>
                  <a:t>diagnostic accuracy depends on faithful signal recovery</a:t>
                </a:r>
                <a:r>
                  <a:rPr lang="en-GB" dirty="0"/>
                  <a:t>, not visual appeal.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516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compression addresses the problem of </a:t>
            </a:r>
            <a:r>
              <a:rPr lang="en-US" b="1" dirty="0"/>
              <a:t>reducing the amount of data required to represent an image</a:t>
            </a:r>
            <a:r>
              <a:rPr lang="en-US" dirty="0"/>
              <a:t>, while preserving as much useful information as possible.</a:t>
            </a:r>
          </a:p>
          <a:p>
            <a:r>
              <a:rPr lang="en-US" dirty="0"/>
              <a:t>The examples on this slide show the same image stored at </a:t>
            </a:r>
            <a:r>
              <a:rPr lang="en-US" b="1" dirty="0"/>
              <a:t>different fidelity levels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At 100% fidelity, the image is large but visually accurate.</a:t>
            </a:r>
            <a:br>
              <a:rPr lang="en-US" dirty="0"/>
            </a:br>
            <a:r>
              <a:rPr lang="en-US" dirty="0"/>
              <a:t>As compression increases—from 90% down to 1%—file size decreases dramatically, but </a:t>
            </a:r>
            <a:r>
              <a:rPr lang="en-US" b="1" dirty="0"/>
              <a:t>visual quality degrades</a:t>
            </a:r>
            <a:r>
              <a:rPr lang="en-US" dirty="0"/>
              <a:t>.</a:t>
            </a:r>
          </a:p>
          <a:p>
            <a:r>
              <a:rPr lang="en-US" dirty="0"/>
              <a:t>This illustrates the central trade-off in compression:</a:t>
            </a:r>
            <a:br>
              <a:rPr lang="en-US" dirty="0"/>
            </a:br>
            <a:r>
              <a:rPr lang="en-US" b="1" dirty="0"/>
              <a:t>storage and transmission efficiency versus image quality</a:t>
            </a:r>
            <a:r>
              <a:rPr lang="en-US" dirty="0"/>
              <a:t>.</a:t>
            </a:r>
          </a:p>
          <a:p>
            <a:r>
              <a:rPr lang="en-US" dirty="0"/>
              <a:t>Compression works by exploiting </a:t>
            </a:r>
            <a:r>
              <a:rPr lang="en-US" b="1" dirty="0"/>
              <a:t>redundancy</a:t>
            </a:r>
            <a:r>
              <a:rPr lang="en-US" dirty="0"/>
              <a:t> in images:</a:t>
            </a:r>
          </a:p>
          <a:p>
            <a:r>
              <a:rPr lang="en-US" dirty="0"/>
              <a:t>Spatial redundancy: </a:t>
            </a:r>
            <a:r>
              <a:rPr lang="en-US" dirty="0" err="1"/>
              <a:t>neighbouring</a:t>
            </a:r>
            <a:r>
              <a:rPr lang="en-US" dirty="0"/>
              <a:t> pixels are often similar</a:t>
            </a:r>
          </a:p>
          <a:p>
            <a:r>
              <a:rPr lang="en-US" dirty="0"/>
              <a:t>Spectral redundancy: </a:t>
            </a:r>
            <a:r>
              <a:rPr lang="en-US" dirty="0" err="1"/>
              <a:t>colour</a:t>
            </a:r>
            <a:r>
              <a:rPr lang="en-US" dirty="0"/>
              <a:t> channels are correlated</a:t>
            </a:r>
          </a:p>
          <a:p>
            <a:r>
              <a:rPr lang="en-US" dirty="0"/>
              <a:t>Perceptual redundancy: the human visual system is less sensitive to certain distortions</a:t>
            </a:r>
          </a:p>
          <a:p>
            <a:r>
              <a:rPr lang="en-US" dirty="0"/>
              <a:t>There are two broad classes of compression:</a:t>
            </a:r>
          </a:p>
          <a:p>
            <a:r>
              <a:rPr lang="en-US" b="1" dirty="0"/>
              <a:t>Lossless compression</a:t>
            </a:r>
            <a:r>
              <a:rPr lang="en-US" dirty="0"/>
              <a:t>, where the original image can be perfectly reconstructed</a:t>
            </a:r>
          </a:p>
          <a:p>
            <a:r>
              <a:rPr lang="en-US" b="1" dirty="0"/>
              <a:t>Lossy compression</a:t>
            </a:r>
            <a:r>
              <a:rPr lang="en-US" dirty="0"/>
              <a:t>, where some information is discarded in exchange for higher compression ratios</a:t>
            </a:r>
          </a:p>
          <a:p>
            <a:r>
              <a:rPr lang="en-US" dirty="0"/>
              <a:t>Most widely used image formats, such as JPEG, rely on </a:t>
            </a:r>
            <a:r>
              <a:rPr lang="en-US" b="1" dirty="0"/>
              <a:t>lossy compression</a:t>
            </a:r>
            <a:r>
              <a:rPr lang="en-US" dirty="0"/>
              <a:t>, because they achieve substantial size reduction with acceptable visual loss.</a:t>
            </a:r>
          </a:p>
          <a:p>
            <a:r>
              <a:rPr lang="en-US" dirty="0"/>
              <a:t>The final point on the slide highlights that </a:t>
            </a:r>
            <a:r>
              <a:rPr lang="en-US" b="1" dirty="0"/>
              <a:t>video compression</a:t>
            </a:r>
            <a:r>
              <a:rPr lang="en-US" dirty="0"/>
              <a:t> extends these ideas further.</a:t>
            </a:r>
            <a:br>
              <a:rPr lang="en-US" dirty="0"/>
            </a:br>
            <a:r>
              <a:rPr lang="en-US" dirty="0"/>
              <a:t>In addition to spatial redundancy within a frame, video compression exploits </a:t>
            </a:r>
            <a:r>
              <a:rPr lang="en-US" b="1" dirty="0"/>
              <a:t>temporal redundancy between frames</a:t>
            </a:r>
            <a:r>
              <a:rPr lang="en-US" dirty="0"/>
              <a:t>, enabling even greater data reduction.</a:t>
            </a:r>
          </a:p>
          <a:p>
            <a:r>
              <a:rPr lang="en-US" dirty="0"/>
              <a:t>Image and video compression are essential for applications such as medical imaging archives, streaming media, mobile devices, and real-time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1265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clarifies the </a:t>
            </a:r>
            <a:r>
              <a:rPr lang="en-US" b="1" dirty="0"/>
              <a:t>conceptual boundary</a:t>
            </a:r>
            <a:r>
              <a:rPr lang="en-US" dirty="0"/>
              <a:t> between </a:t>
            </a:r>
            <a:r>
              <a:rPr lang="en-US" i="1" dirty="0"/>
              <a:t>image processing</a:t>
            </a:r>
            <a:r>
              <a:rPr lang="en-US" dirty="0"/>
              <a:t> and </a:t>
            </a:r>
            <a:r>
              <a:rPr lang="en-US" i="1" dirty="0"/>
              <a:t>image analysis</a:t>
            </a:r>
            <a:r>
              <a:rPr lang="en-US" dirty="0"/>
              <a:t>, which is central to understanding the scope of this course.</a:t>
            </a:r>
          </a:p>
          <a:p>
            <a:r>
              <a:rPr lang="en-US" dirty="0"/>
              <a:t>At the </a:t>
            </a:r>
            <a:r>
              <a:rPr lang="en-US" b="1" dirty="0"/>
              <a:t>low level</a:t>
            </a:r>
            <a:r>
              <a:rPr lang="en-US" dirty="0"/>
              <a:t>, we deal exclusively with </a:t>
            </a:r>
            <a:r>
              <a:rPr lang="en-US" b="1" dirty="0"/>
              <a:t>image processing</a:t>
            </a:r>
            <a:r>
              <a:rPr lang="en-US" dirty="0"/>
              <a:t> tasks:</a:t>
            </a:r>
          </a:p>
          <a:p>
            <a:r>
              <a:rPr lang="en-US" dirty="0"/>
              <a:t>Image acquisition</a:t>
            </a:r>
          </a:p>
          <a:p>
            <a:r>
              <a:rPr lang="en-US" dirty="0"/>
              <a:t>Image enhancement</a:t>
            </a:r>
          </a:p>
          <a:p>
            <a:r>
              <a:rPr lang="en-US" dirty="0"/>
              <a:t>Image compression</a:t>
            </a:r>
          </a:p>
          <a:p>
            <a:r>
              <a:rPr lang="en-US" dirty="0"/>
              <a:t>These operations work directly on pixel intensities.</a:t>
            </a:r>
            <a:br>
              <a:rPr lang="en-US" dirty="0"/>
            </a:br>
            <a:r>
              <a:rPr lang="en-US" dirty="0"/>
              <a:t>They are generally </a:t>
            </a:r>
            <a:r>
              <a:rPr lang="en-US" b="1" dirty="0"/>
              <a:t>independent of image content</a:t>
            </a:r>
            <a:r>
              <a:rPr lang="en-US" dirty="0"/>
              <a:t> and do not attempt to assign meaning.</a:t>
            </a:r>
          </a:p>
          <a:p>
            <a:r>
              <a:rPr lang="en-US" dirty="0"/>
              <a:t>As we move to the </a:t>
            </a:r>
            <a:r>
              <a:rPr lang="en-US" b="1" dirty="0"/>
              <a:t>mid level</a:t>
            </a:r>
            <a:r>
              <a:rPr lang="en-US" dirty="0"/>
              <a:t>, we begin the transition toward </a:t>
            </a:r>
            <a:r>
              <a:rPr lang="en-US" b="1" dirty="0"/>
              <a:t>image analysis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Image segmentation</a:t>
            </a:r>
            <a:r>
              <a:rPr lang="en-US" dirty="0"/>
              <a:t> separates the image into regions, and </a:t>
            </a:r>
            <a:r>
              <a:rPr lang="en-US" b="1" dirty="0"/>
              <a:t>object recognition</a:t>
            </a:r>
            <a:r>
              <a:rPr lang="en-US" dirty="0"/>
              <a:t> assigns labels to those regions.</a:t>
            </a:r>
          </a:p>
          <a:p>
            <a:r>
              <a:rPr lang="en-US" dirty="0"/>
              <a:t>At the </a:t>
            </a:r>
            <a:r>
              <a:rPr lang="en-US" b="1" dirty="0"/>
              <a:t>high level</a:t>
            </a:r>
            <a:r>
              <a:rPr lang="en-US" dirty="0"/>
              <a:t>, we fully enter the domain of </a:t>
            </a:r>
            <a:r>
              <a:rPr lang="en-US" b="1" dirty="0"/>
              <a:t>image analysis</a:t>
            </a:r>
            <a:r>
              <a:rPr lang="en-US" dirty="0"/>
              <a:t>, which includes:</a:t>
            </a:r>
          </a:p>
          <a:p>
            <a:r>
              <a:rPr lang="en-US" dirty="0"/>
              <a:t>Scene understanding</a:t>
            </a:r>
          </a:p>
          <a:p>
            <a:r>
              <a:rPr lang="en-US" dirty="0"/>
              <a:t>Semantics</a:t>
            </a:r>
          </a:p>
          <a:p>
            <a:r>
              <a:rPr lang="en-US" dirty="0"/>
              <a:t>At this stage, the system is no longer manipulating pixels—it is </a:t>
            </a:r>
            <a:r>
              <a:rPr lang="en-US" b="1" dirty="0"/>
              <a:t>reasoning about objects, relationships, and context</a:t>
            </a:r>
            <a:r>
              <a:rPr lang="en-US" dirty="0"/>
              <a:t>.</a:t>
            </a:r>
          </a:p>
          <a:p>
            <a:r>
              <a:rPr lang="en-US" dirty="0"/>
              <a:t>The bracket on the right </a:t>
            </a:r>
            <a:r>
              <a:rPr lang="en-US" dirty="0" err="1"/>
              <a:t>emphasises</a:t>
            </a:r>
            <a:r>
              <a:rPr lang="en-US" dirty="0"/>
              <a:t> that </a:t>
            </a:r>
            <a:r>
              <a:rPr lang="en-US" b="1" dirty="0"/>
              <a:t>image analysis overlaps with computer vision and pattern recognition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These fields focus on interpretation rather than appearance.</a:t>
            </a:r>
          </a:p>
          <a:p>
            <a:r>
              <a:rPr lang="en-US" dirty="0"/>
              <a:t>The downward arrow on the left represents increasing </a:t>
            </a:r>
            <a:r>
              <a:rPr lang="en-US" b="1" dirty="0"/>
              <a:t>semantic complexity</a:t>
            </a:r>
            <a:r>
              <a:rPr lang="en-US" dirty="0"/>
              <a:t> as we move from raw data to understanding.</a:t>
            </a:r>
          </a:p>
          <a:p>
            <a:r>
              <a:rPr lang="en-US" dirty="0"/>
              <a:t>A critical point is that </a:t>
            </a:r>
            <a:r>
              <a:rPr lang="en-US" b="1" dirty="0"/>
              <a:t>image processing is a prerequisite for image analysis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Reliable segmentation, recognition, and semantic interpretation depend on high-quality acquisition and preprocessing.</a:t>
            </a:r>
          </a:p>
          <a:p>
            <a:r>
              <a:rPr lang="en-US" dirty="0"/>
              <a:t>In modern systems, especially those based on deep learning, these stages may be integrated—but conceptually, this hierarchy still applies.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6529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segmentation is the process of </a:t>
            </a:r>
            <a:r>
              <a:rPr lang="en-US" b="1" dirty="0"/>
              <a:t>partitioning an image into meaningful regions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Each region corresponds to a distinct object, surface, or area of interest.</a:t>
            </a:r>
          </a:p>
          <a:p>
            <a:r>
              <a:rPr lang="en-US" dirty="0"/>
              <a:t>In the examples shown here, the top row contains the </a:t>
            </a:r>
            <a:r>
              <a:rPr lang="en-US" b="1" dirty="0"/>
              <a:t>original images</a:t>
            </a:r>
            <a:r>
              <a:rPr lang="en-US" dirty="0"/>
              <a:t>, and the bottom row shows their </a:t>
            </a:r>
            <a:r>
              <a:rPr lang="en-US" b="1" dirty="0"/>
              <a:t>segmented versions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Notice that each region is assigned a different </a:t>
            </a:r>
            <a:r>
              <a:rPr lang="en-US" dirty="0" err="1"/>
              <a:t>colour</a:t>
            </a:r>
            <a:r>
              <a:rPr lang="en-US" dirty="0"/>
              <a:t> to indicate </a:t>
            </a:r>
            <a:r>
              <a:rPr lang="en-US" b="1" dirty="0"/>
              <a:t>class membership</a:t>
            </a:r>
            <a:r>
              <a:rPr lang="en-US" dirty="0"/>
              <a:t>.</a:t>
            </a:r>
          </a:p>
          <a:p>
            <a:r>
              <a:rPr lang="en-US" dirty="0"/>
              <a:t>The goal of segmentation is not to improve visual quality, but to </a:t>
            </a:r>
            <a:r>
              <a:rPr lang="en-US" b="1" dirty="0"/>
              <a:t>simplify the image representation</a:t>
            </a:r>
            <a:r>
              <a:rPr lang="en-US" dirty="0"/>
              <a:t> so that higher-level analysis becomes possible.</a:t>
            </a:r>
          </a:p>
          <a:p>
            <a:r>
              <a:rPr lang="en-US" dirty="0"/>
              <a:t>Conceptually, segmentation answers the question:</a:t>
            </a:r>
            <a:br>
              <a:rPr lang="en-US" dirty="0"/>
            </a:br>
            <a:r>
              <a:rPr lang="en-US" i="1" dirty="0"/>
              <a:t>Which pixels belong together?</a:t>
            </a:r>
            <a:endParaRPr lang="en-US" dirty="0"/>
          </a:p>
          <a:p>
            <a:r>
              <a:rPr lang="en-US" dirty="0"/>
              <a:t>Segmentation is a </a:t>
            </a:r>
            <a:r>
              <a:rPr lang="en-US" b="1" dirty="0"/>
              <a:t>critical bridge</a:t>
            </a:r>
            <a:r>
              <a:rPr lang="en-US" dirty="0"/>
              <a:t> between image processing and image analysis.</a:t>
            </a:r>
            <a:br>
              <a:rPr lang="en-US" dirty="0"/>
            </a:br>
            <a:r>
              <a:rPr lang="en-US" dirty="0"/>
              <a:t>Without accurate segmentation, tasks such as object recognition, measurement, and scene understanding become unreliable.</a:t>
            </a:r>
          </a:p>
          <a:p>
            <a:r>
              <a:rPr lang="en-US" dirty="0"/>
              <a:t>Depending on the application, segmentation can be:</a:t>
            </a:r>
          </a:p>
          <a:p>
            <a:r>
              <a:rPr lang="en-US" b="1" dirty="0"/>
              <a:t>Binary</a:t>
            </a:r>
            <a:r>
              <a:rPr lang="en-US" dirty="0"/>
              <a:t>: foreground vs background</a:t>
            </a:r>
          </a:p>
          <a:p>
            <a:r>
              <a:rPr lang="en-US" b="1" dirty="0"/>
              <a:t>Multiclass</a:t>
            </a:r>
            <a:r>
              <a:rPr lang="en-US" dirty="0"/>
              <a:t>: multiple object categories, as shown here</a:t>
            </a:r>
          </a:p>
          <a:p>
            <a:r>
              <a:rPr lang="en-US" b="1" dirty="0"/>
              <a:t>Instance-based</a:t>
            </a:r>
            <a:r>
              <a:rPr lang="en-US" dirty="0"/>
              <a:t>: separating individual objects of the same class</a:t>
            </a:r>
          </a:p>
          <a:p>
            <a:r>
              <a:rPr lang="en-US" dirty="0"/>
              <a:t>The dataset referenced on this slide—the </a:t>
            </a:r>
            <a:r>
              <a:rPr lang="en-US" b="1" dirty="0"/>
              <a:t>Microsoft multiclass segmentation dataset</a:t>
            </a:r>
            <a:r>
              <a:rPr lang="en-US" dirty="0"/>
              <a:t>—is commonly used to evaluate segmentation algorithms under real-world conditions.</a:t>
            </a:r>
          </a:p>
          <a:p>
            <a:r>
              <a:rPr lang="en-US" dirty="0"/>
              <a:t>Segmentation is also one of the </a:t>
            </a:r>
            <a:r>
              <a:rPr lang="en-US" b="1" dirty="0"/>
              <a:t>most challenging problems</a:t>
            </a:r>
            <a:r>
              <a:rPr lang="en-US" dirty="0"/>
              <a:t> in image processing.</a:t>
            </a:r>
            <a:br>
              <a:rPr lang="en-US" dirty="0"/>
            </a:br>
            <a:r>
              <a:rPr lang="en-US" dirty="0"/>
              <a:t>It is highly sensitive to noise, illumination changes, and object boundaries, which is why preprocessing steps such as enhancement and smoothing are often required.</a:t>
            </a:r>
          </a:p>
          <a:p>
            <a:r>
              <a:rPr lang="en-US" dirty="0"/>
              <a:t>In later parts of the course, we will study classical segmentation techniques, and conceptually connect them to modern learning-based approaches.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8311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completion, sometimes called </a:t>
            </a:r>
            <a:r>
              <a:rPr lang="en-US" b="1" dirty="0"/>
              <a:t>image inpainting</a:t>
            </a:r>
            <a:r>
              <a:rPr lang="en-US" dirty="0"/>
              <a:t>, is the process of </a:t>
            </a:r>
            <a:r>
              <a:rPr lang="en-US" b="1" dirty="0"/>
              <a:t>removing selected objects or regions from an image and automatically filling the missing areas</a:t>
            </a:r>
            <a:r>
              <a:rPr lang="en-US" dirty="0"/>
              <a:t> using information from the surrounding background.</a:t>
            </a:r>
          </a:p>
          <a:p>
            <a:r>
              <a:rPr lang="en-US" dirty="0"/>
              <a:t>In the examples shown here, the object of interest is first </a:t>
            </a:r>
            <a:r>
              <a:rPr lang="en-US" b="1" dirty="0"/>
              <a:t>identified or selected</a:t>
            </a:r>
            <a:r>
              <a:rPr lang="en-US" dirty="0"/>
              <a:t>, either manually or automatically.</a:t>
            </a:r>
            <a:br>
              <a:rPr lang="en-US" dirty="0"/>
            </a:br>
            <a:r>
              <a:rPr lang="en-US" dirty="0"/>
              <a:t>The selected region is then removed, leaving a </a:t>
            </a:r>
            <a:r>
              <a:rPr lang="en-US" b="1" dirty="0"/>
              <a:t>mask</a:t>
            </a:r>
            <a:r>
              <a:rPr lang="en-US" dirty="0"/>
              <a:t> that indicates where information is missing.</a:t>
            </a:r>
          </a:p>
          <a:p>
            <a:r>
              <a:rPr lang="en-US" dirty="0"/>
              <a:t>The algorithm’s task is to fill this region in a way that is </a:t>
            </a:r>
            <a:r>
              <a:rPr lang="en-US" b="1" dirty="0"/>
              <a:t>visually consistent</a:t>
            </a:r>
            <a:r>
              <a:rPr lang="en-US" dirty="0"/>
              <a:t> with the rest of the image.</a:t>
            </a:r>
            <a:br>
              <a:rPr lang="en-US" dirty="0"/>
            </a:br>
            <a:r>
              <a:rPr lang="en-US" dirty="0"/>
              <a:t>This includes matching texture, </a:t>
            </a:r>
            <a:r>
              <a:rPr lang="en-US" dirty="0" err="1"/>
              <a:t>colour</a:t>
            </a:r>
            <a:r>
              <a:rPr lang="en-US" dirty="0"/>
              <a:t>, and structural patterns from nearby regions.</a:t>
            </a:r>
          </a:p>
          <a:p>
            <a:r>
              <a:rPr lang="en-US" dirty="0"/>
              <a:t>A key constraint in image completion is that </a:t>
            </a:r>
            <a:r>
              <a:rPr lang="en-US" b="1" dirty="0"/>
              <a:t>all information used to fill the missing area comes from the same image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No external data is introduced; the method relies entirely on internal image statistics.</a:t>
            </a:r>
          </a:p>
          <a:p>
            <a:r>
              <a:rPr lang="en-US" dirty="0"/>
              <a:t>Conceptually, image completion assumes that </a:t>
            </a:r>
            <a:r>
              <a:rPr lang="en-US" b="1" dirty="0"/>
              <a:t>natural images contain redundancy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a texture or structure appears in one part of the image, it is likely to appear elsewhere as well.</a:t>
            </a:r>
          </a:p>
          <a:p>
            <a:r>
              <a:rPr lang="en-US" dirty="0"/>
              <a:t>Image completion is used in many applications, including:</a:t>
            </a:r>
          </a:p>
          <a:p>
            <a:r>
              <a:rPr lang="en-US" dirty="0"/>
              <a:t>Object removal in photography</a:t>
            </a:r>
          </a:p>
          <a:p>
            <a:r>
              <a:rPr lang="en-US" dirty="0"/>
              <a:t>Restoration of damaged images or artwork</a:t>
            </a:r>
          </a:p>
          <a:p>
            <a:r>
              <a:rPr lang="en-US" dirty="0"/>
              <a:t>Occlusion handling in computer vision</a:t>
            </a:r>
          </a:p>
          <a:p>
            <a:r>
              <a:rPr lang="en-US" dirty="0"/>
              <a:t>From a course perspective, image completion sits at the intersection of </a:t>
            </a:r>
            <a:r>
              <a:rPr lang="en-US" b="1" dirty="0"/>
              <a:t>image processing and image analysis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requires low-level operations such as texture synthesis, but also higher-level understanding of scene structure.</a:t>
            </a:r>
          </a:p>
          <a:p>
            <a:r>
              <a:rPr lang="en-US" dirty="0"/>
              <a:t>While early methods relied on patch-based techniques, modern approaches increasingly use </a:t>
            </a:r>
            <a:r>
              <a:rPr lang="en-US" b="1" dirty="0"/>
              <a:t>learning-based models</a:t>
            </a:r>
            <a:r>
              <a:rPr lang="en-US" dirty="0"/>
              <a:t>, which we will conceptually discuss later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5852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presents additional examples of </a:t>
            </a:r>
            <a:r>
              <a:rPr lang="en-US" b="1" dirty="0"/>
              <a:t>image completion and object removal</a:t>
            </a:r>
            <a:r>
              <a:rPr lang="en-US" dirty="0"/>
              <a:t>, reinforcing the concepts introduced in the previous slide.</a:t>
            </a:r>
          </a:p>
          <a:p>
            <a:r>
              <a:rPr lang="en-US" dirty="0"/>
              <a:t>In each case, the object of interest—such as the Hollywood sign or the diver—is first </a:t>
            </a:r>
            <a:r>
              <a:rPr lang="en-US" b="1" dirty="0"/>
              <a:t>identified and removed</a:t>
            </a:r>
            <a:r>
              <a:rPr lang="en-US" dirty="0"/>
              <a:t>, leaving a missing region defined by a mask.</a:t>
            </a:r>
          </a:p>
          <a:p>
            <a:r>
              <a:rPr lang="en-US" dirty="0"/>
              <a:t>The image completion algorithm then fills the missing region using </a:t>
            </a:r>
            <a:r>
              <a:rPr lang="en-US" b="1" dirty="0"/>
              <a:t>contextual information from the surrounding areas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Notice that the completed images appear visually plausible, even though the removed objects are large and semantically important.</a:t>
            </a:r>
          </a:p>
          <a:p>
            <a:r>
              <a:rPr lang="en-US" dirty="0"/>
              <a:t>This highlights an important characteristic of image completion:</a:t>
            </a:r>
            <a:br>
              <a:rPr lang="en-US" dirty="0"/>
            </a:br>
            <a:r>
              <a:rPr lang="en-US" dirty="0"/>
              <a:t>the algorithm does not understand the </a:t>
            </a:r>
            <a:r>
              <a:rPr lang="en-US" i="1" dirty="0"/>
              <a:t>meaning</a:t>
            </a:r>
            <a:r>
              <a:rPr lang="en-US" dirty="0"/>
              <a:t> of the removed object—it relies on </a:t>
            </a:r>
            <a:r>
              <a:rPr lang="en-US" b="1" dirty="0"/>
              <a:t>local and global image statistics</a:t>
            </a:r>
            <a:r>
              <a:rPr lang="en-US" dirty="0"/>
              <a:t>.</a:t>
            </a:r>
          </a:p>
          <a:p>
            <a:r>
              <a:rPr lang="en-US" dirty="0"/>
              <a:t>In the top example, the sky and hillside textures are extended naturally into the removed region.</a:t>
            </a:r>
            <a:br>
              <a:rPr lang="en-US" dirty="0"/>
            </a:br>
            <a:r>
              <a:rPr lang="en-US" dirty="0"/>
              <a:t>In the bottom example, water and background structures are propagated to maintain visual continuity.</a:t>
            </a:r>
          </a:p>
          <a:p>
            <a:r>
              <a:rPr lang="en-US" dirty="0"/>
              <a:t>These examples also demonstrate the </a:t>
            </a:r>
            <a:r>
              <a:rPr lang="en-US" b="1" dirty="0"/>
              <a:t>limitations of image completion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While backgrounds and textures are reconstructed well, complex structures or unique objects cannot always be restored accurately.</a:t>
            </a:r>
          </a:p>
          <a:p>
            <a:r>
              <a:rPr lang="en-US" dirty="0"/>
              <a:t>From a methodological perspective, this task lies between </a:t>
            </a:r>
            <a:r>
              <a:rPr lang="en-US" b="1" dirty="0"/>
              <a:t>low-level texture synthesis</a:t>
            </a:r>
            <a:r>
              <a:rPr lang="en-US" dirty="0"/>
              <a:t> and </a:t>
            </a:r>
            <a:r>
              <a:rPr lang="en-US" b="1" dirty="0"/>
              <a:t>higher-level scene understanding</a:t>
            </a:r>
            <a:r>
              <a:rPr lang="en-US" dirty="0"/>
              <a:t>, making it an interesting and challenging area in image processing.</a:t>
            </a:r>
          </a:p>
          <a:p>
            <a:r>
              <a:rPr lang="en-US" dirty="0"/>
              <a:t>Modern approaches increasingly incorporate learning-based models, but the core principle remains the same:</a:t>
            </a:r>
            <a:br>
              <a:rPr lang="en-US" dirty="0"/>
            </a:br>
            <a:r>
              <a:rPr lang="en-US" b="1" dirty="0"/>
              <a:t>fill missing regions in a way that is statistically and visually consistent with the rest of the image</a:t>
            </a:r>
            <a:r>
              <a:rPr lang="en-US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8009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Morphological image processing is a class of techniques that focus on the </a:t>
            </a:r>
            <a:r>
              <a:rPr lang="en-US" b="1" dirty="0"/>
              <a:t>shape and structure of objects</a:t>
            </a:r>
            <a:r>
              <a:rPr lang="en-US" dirty="0"/>
              <a:t> in an image, rather than on intensity values alone.</a:t>
            </a:r>
          </a:p>
          <a:p>
            <a:r>
              <a:rPr lang="en-US" dirty="0"/>
              <a:t>These methods are particularly powerful for </a:t>
            </a:r>
            <a:r>
              <a:rPr lang="en-US" b="1" dirty="0"/>
              <a:t>binary and grayscale images</a:t>
            </a:r>
            <a:r>
              <a:rPr lang="en-US" dirty="0"/>
              <a:t>, where the goal is to </a:t>
            </a:r>
            <a:r>
              <a:rPr lang="en-US" dirty="0" err="1"/>
              <a:t>analyse</a:t>
            </a:r>
            <a:r>
              <a:rPr lang="en-US" dirty="0"/>
              <a:t> or modify geometric structures such as boundaries, connectivity, and thickness.</a:t>
            </a:r>
          </a:p>
          <a:p>
            <a:r>
              <a:rPr lang="en-US" dirty="0"/>
              <a:t>The examples on this slide illustrate typical morphological operations.</a:t>
            </a:r>
            <a:br>
              <a:rPr lang="en-US" dirty="0"/>
            </a:br>
            <a:r>
              <a:rPr lang="en-US" dirty="0"/>
              <a:t>On the left, we see how shapes—such as handwritten characters—can be </a:t>
            </a:r>
            <a:r>
              <a:rPr lang="en-US" b="1" dirty="0"/>
              <a:t>refined, cleaned, or simplified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On the right, we see how morphology can extract or </a:t>
            </a:r>
            <a:r>
              <a:rPr lang="en-US" dirty="0" err="1"/>
              <a:t>emphasise</a:t>
            </a:r>
            <a:r>
              <a:rPr lang="en-US" dirty="0"/>
              <a:t> </a:t>
            </a:r>
            <a:r>
              <a:rPr lang="en-US" b="1" dirty="0"/>
              <a:t>structural patterns</a:t>
            </a:r>
            <a:r>
              <a:rPr lang="en-US" dirty="0"/>
              <a:t>, such as connected components or skeletons.</a:t>
            </a:r>
          </a:p>
          <a:p>
            <a:r>
              <a:rPr lang="en-US" dirty="0"/>
              <a:t>At the core of morphological processing is the concept of a </a:t>
            </a:r>
            <a:r>
              <a:rPr lang="en-US" b="1" dirty="0"/>
              <a:t>structuring element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is a small predefined shape that probes the image and defines how objects are expanded, shrunk, or transformed.</a:t>
            </a:r>
          </a:p>
          <a:p>
            <a:r>
              <a:rPr lang="en-US" dirty="0"/>
              <a:t>The two fundamental morphological operations are:</a:t>
            </a:r>
          </a:p>
          <a:p>
            <a:r>
              <a:rPr lang="en-US" b="1" dirty="0"/>
              <a:t>Erosion</a:t>
            </a:r>
            <a:r>
              <a:rPr lang="en-US" dirty="0"/>
              <a:t>, which removes pixels from object boundaries and shrinks objects</a:t>
            </a:r>
          </a:p>
          <a:p>
            <a:r>
              <a:rPr lang="en-US" b="1" dirty="0"/>
              <a:t>Dilation</a:t>
            </a:r>
            <a:r>
              <a:rPr lang="en-US" dirty="0"/>
              <a:t>, which adds pixels to object boundaries and expands objects</a:t>
            </a:r>
          </a:p>
          <a:p>
            <a:r>
              <a:rPr lang="en-US" dirty="0"/>
              <a:t>From these, more advanced operations are constructed, such as:</a:t>
            </a:r>
          </a:p>
          <a:p>
            <a:r>
              <a:rPr lang="en-US" b="1" dirty="0"/>
              <a:t>Opening</a:t>
            </a:r>
            <a:r>
              <a:rPr lang="en-US" dirty="0"/>
              <a:t>, which removes small objects or noise</a:t>
            </a:r>
          </a:p>
          <a:p>
            <a:r>
              <a:rPr lang="en-US" b="1" dirty="0"/>
              <a:t>Closing</a:t>
            </a:r>
            <a:r>
              <a:rPr lang="en-US" dirty="0"/>
              <a:t>, which fills small gaps or holes</a:t>
            </a:r>
          </a:p>
          <a:p>
            <a:r>
              <a:rPr lang="en-US" dirty="0"/>
              <a:t>Morphological operations are widely used as </a:t>
            </a:r>
            <a:r>
              <a:rPr lang="en-US" b="1" dirty="0"/>
              <a:t>pre-processing steps</a:t>
            </a:r>
            <a:r>
              <a:rPr lang="en-US" dirty="0"/>
              <a:t> before segmentation or recognition, particularly when dealing with noisy or fragmented objects.</a:t>
            </a:r>
          </a:p>
          <a:p>
            <a:r>
              <a:rPr lang="en-US" dirty="0"/>
              <a:t>Importantly, morphology is </a:t>
            </a:r>
            <a:r>
              <a:rPr lang="en-US" b="1" dirty="0"/>
              <a:t>non-linear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Unlike filtering, it does not rely on averaging or convolution, but on </a:t>
            </a:r>
            <a:r>
              <a:rPr lang="en-US" b="1" dirty="0"/>
              <a:t>set-theoretic and geometric principles</a:t>
            </a:r>
            <a:r>
              <a:rPr lang="en-US" dirty="0"/>
              <a:t>.</a:t>
            </a:r>
          </a:p>
          <a:p>
            <a:r>
              <a:rPr lang="en-US" dirty="0"/>
              <a:t>In applications such as character recognition, medical image analysis, and network structure extraction, morphology provides a robust way to enforce shape-based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4622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introduces </a:t>
            </a:r>
            <a:r>
              <a:rPr lang="en-US" b="1" dirty="0"/>
              <a:t>object detection and object recognition</a:t>
            </a:r>
            <a:r>
              <a:rPr lang="en-US" dirty="0"/>
              <a:t>, two closely related but conceptually distinct tasks in image analysis.</a:t>
            </a:r>
          </a:p>
          <a:p>
            <a:r>
              <a:rPr lang="en-US" b="1" dirty="0"/>
              <a:t>Object detection</a:t>
            </a:r>
            <a:r>
              <a:rPr lang="en-US" dirty="0"/>
              <a:t> answers the question:</a:t>
            </a:r>
            <a:br>
              <a:rPr lang="en-US" dirty="0"/>
            </a:br>
            <a:r>
              <a:rPr lang="en-US" i="1" dirty="0"/>
              <a:t>Where is an object in the image?</a:t>
            </a:r>
            <a:br>
              <a:rPr lang="en-US" dirty="0"/>
            </a:br>
            <a:r>
              <a:rPr lang="en-US" dirty="0"/>
              <a:t>It typically involves locating objects and drawing </a:t>
            </a:r>
            <a:r>
              <a:rPr lang="en-US" b="1" dirty="0"/>
              <a:t>bounding boxes</a:t>
            </a:r>
            <a:r>
              <a:rPr lang="en-US" dirty="0"/>
              <a:t> around them, as shown by the red rectangles in this example.</a:t>
            </a:r>
          </a:p>
          <a:p>
            <a:r>
              <a:rPr lang="en-US" b="1" dirty="0"/>
              <a:t>Object recognition</a:t>
            </a:r>
            <a:r>
              <a:rPr lang="en-US" dirty="0"/>
              <a:t>, on the other hand, answers the question:</a:t>
            </a:r>
            <a:br>
              <a:rPr lang="en-US" dirty="0"/>
            </a:br>
            <a:r>
              <a:rPr lang="en-US" i="1" dirty="0"/>
              <a:t>What is the object?</a:t>
            </a:r>
            <a:br>
              <a:rPr lang="en-US" dirty="0"/>
            </a:br>
            <a:r>
              <a:rPr lang="en-US" dirty="0"/>
              <a:t>Once an object is detected, recognition assigns a </a:t>
            </a:r>
            <a:r>
              <a:rPr lang="en-US" b="1" dirty="0"/>
              <a:t>label or category</a:t>
            </a:r>
            <a:r>
              <a:rPr lang="en-US" dirty="0"/>
              <a:t> to it, such as a face, a person, or another class of interest.</a:t>
            </a:r>
          </a:p>
          <a:p>
            <a:r>
              <a:rPr lang="en-US" dirty="0"/>
              <a:t>In practice, these two tasks are often performed together.</a:t>
            </a:r>
            <a:br>
              <a:rPr lang="en-US" dirty="0"/>
            </a:br>
            <a:r>
              <a:rPr lang="en-US" dirty="0"/>
              <a:t>A system first detects candidate regions, and then </a:t>
            </a:r>
            <a:r>
              <a:rPr lang="en-US" dirty="0" err="1"/>
              <a:t>recognises</a:t>
            </a:r>
            <a:r>
              <a:rPr lang="en-US" dirty="0"/>
              <a:t> or classifies the content of those regions.</a:t>
            </a:r>
          </a:p>
          <a:p>
            <a:r>
              <a:rPr lang="en-US" dirty="0"/>
              <a:t>The example shown here illustrates a </a:t>
            </a:r>
            <a:r>
              <a:rPr lang="en-US" b="1" dirty="0"/>
              <a:t>face detection and recognition pipeline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Faces are detected using bounding boxes, and then additional attributes—such as category labels—are inferred based on learned patterns.</a:t>
            </a:r>
          </a:p>
          <a:p>
            <a:r>
              <a:rPr lang="en-US" dirty="0"/>
              <a:t>From a methodological perspective, object detection and recognition operate at the </a:t>
            </a:r>
            <a:r>
              <a:rPr lang="en-US" b="1" dirty="0"/>
              <a:t>mid to high levels</a:t>
            </a:r>
            <a:r>
              <a:rPr lang="en-US" dirty="0"/>
              <a:t> of the image processing hierarchy.</a:t>
            </a:r>
            <a:br>
              <a:rPr lang="en-US" dirty="0"/>
            </a:br>
            <a:r>
              <a:rPr lang="en-US" dirty="0"/>
              <a:t>They rely on earlier stages such as </a:t>
            </a:r>
            <a:r>
              <a:rPr lang="en-US" b="1" dirty="0"/>
              <a:t>image acquisition, enhancement, and segmentation</a:t>
            </a:r>
            <a:r>
              <a:rPr lang="en-US" dirty="0"/>
              <a:t> to function reliably.</a:t>
            </a:r>
          </a:p>
          <a:p>
            <a:r>
              <a:rPr lang="en-US" dirty="0"/>
              <a:t>These tasks are central to many applications, including:</a:t>
            </a:r>
          </a:p>
          <a:p>
            <a:r>
              <a:rPr lang="en-US" dirty="0"/>
              <a:t>Surveillance and security</a:t>
            </a:r>
          </a:p>
          <a:p>
            <a:r>
              <a:rPr lang="en-US" dirty="0"/>
              <a:t>Human–computer interaction</a:t>
            </a:r>
          </a:p>
          <a:p>
            <a:r>
              <a:rPr lang="en-US" dirty="0"/>
              <a:t>Medical image analysis</a:t>
            </a:r>
          </a:p>
          <a:p>
            <a:r>
              <a:rPr lang="en-US" dirty="0"/>
              <a:t>Autonomous systems</a:t>
            </a:r>
          </a:p>
          <a:p>
            <a:r>
              <a:rPr lang="en-US" dirty="0"/>
              <a:t>Historically, object recognition relied on </a:t>
            </a:r>
            <a:r>
              <a:rPr lang="en-US" b="1" dirty="0"/>
              <a:t>hand-crafted features</a:t>
            </a:r>
            <a:r>
              <a:rPr lang="en-US" dirty="0"/>
              <a:t> such as edges, corners, and texture descriptors.</a:t>
            </a:r>
            <a:br>
              <a:rPr lang="en-US" dirty="0"/>
            </a:br>
            <a:r>
              <a:rPr lang="en-US" dirty="0"/>
              <a:t>Modern systems increasingly use </a:t>
            </a:r>
            <a:r>
              <a:rPr lang="en-US" b="1" dirty="0"/>
              <a:t>learning-based models</a:t>
            </a:r>
            <a:r>
              <a:rPr lang="en-US" dirty="0"/>
              <a:t> that automatically learn features from data, but the underlying goals remain the same.</a:t>
            </a:r>
          </a:p>
          <a:p>
            <a:r>
              <a:rPr lang="en-US" dirty="0"/>
              <a:t>A key challenge in object detection and recognition is variability—objects may appear at different scales, orientations, and under different lighting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1171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Content-Based Image Retrieval, or </a:t>
            </a:r>
            <a:r>
              <a:rPr lang="en-US" b="1" dirty="0"/>
              <a:t>CBIR</a:t>
            </a:r>
            <a:r>
              <a:rPr lang="en-US" dirty="0"/>
              <a:t>, refers to the task of </a:t>
            </a:r>
            <a:r>
              <a:rPr lang="en-US" b="1" dirty="0"/>
              <a:t>searching an image database using the visual content of images themselves</a:t>
            </a:r>
            <a:r>
              <a:rPr lang="en-US" dirty="0"/>
              <a:t>, rather than relying on text labels, filenames, or manual annotations.</a:t>
            </a:r>
          </a:p>
          <a:p>
            <a:r>
              <a:rPr lang="en-US" dirty="0"/>
              <a:t>In this slide, you can see a typical CBIR system interface.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query image</a:t>
            </a:r>
            <a:r>
              <a:rPr lang="en-US" dirty="0"/>
              <a:t> is provided by the user, and the system retrieves images from a database that are </a:t>
            </a:r>
            <a:r>
              <a:rPr lang="en-US" b="1" dirty="0"/>
              <a:t>visually similar</a:t>
            </a:r>
            <a:r>
              <a:rPr lang="en-US" dirty="0"/>
              <a:t> to the query.</a:t>
            </a:r>
          </a:p>
          <a:p>
            <a:r>
              <a:rPr lang="en-US" dirty="0"/>
              <a:t>The key idea behind CBIR is that images are represented using </a:t>
            </a:r>
            <a:r>
              <a:rPr lang="en-US" b="1" dirty="0"/>
              <a:t>visual features</a:t>
            </a:r>
            <a:r>
              <a:rPr lang="en-US" dirty="0"/>
              <a:t>, such as:</a:t>
            </a:r>
          </a:p>
          <a:p>
            <a:r>
              <a:rPr lang="en-US" dirty="0" err="1"/>
              <a:t>Colour</a:t>
            </a:r>
            <a:r>
              <a:rPr lang="en-US" dirty="0"/>
              <a:t> distributions</a:t>
            </a:r>
          </a:p>
          <a:p>
            <a:r>
              <a:rPr lang="en-US" dirty="0"/>
              <a:t>Texture patterns</a:t>
            </a:r>
          </a:p>
          <a:p>
            <a:r>
              <a:rPr lang="en-US" dirty="0"/>
              <a:t>Shape descriptors</a:t>
            </a:r>
          </a:p>
          <a:p>
            <a:r>
              <a:rPr lang="en-US" dirty="0"/>
              <a:t>Local features or learned representations</a:t>
            </a:r>
          </a:p>
          <a:p>
            <a:r>
              <a:rPr lang="en-US" dirty="0"/>
              <a:t>These features are extracted from every image in the database and stored in a </a:t>
            </a:r>
            <a:r>
              <a:rPr lang="en-US" b="1" dirty="0"/>
              <a:t>feature space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When a query image is submitted, its features are compared to those in the database using a </a:t>
            </a:r>
            <a:r>
              <a:rPr lang="en-US" b="1" dirty="0"/>
              <a:t>similarity measure</a:t>
            </a:r>
            <a:r>
              <a:rPr lang="en-US" dirty="0"/>
              <a:t>.</a:t>
            </a:r>
          </a:p>
          <a:p>
            <a:r>
              <a:rPr lang="en-US" dirty="0"/>
              <a:t>Images that are closest in feature space are returned as </a:t>
            </a:r>
            <a:r>
              <a:rPr lang="en-US" b="1" dirty="0"/>
              <a:t>relevant images</a:t>
            </a:r>
            <a:r>
              <a:rPr lang="en-US" dirty="0"/>
              <a:t>, while others are classified as irrelevant, as shown on the slide.</a:t>
            </a:r>
          </a:p>
          <a:p>
            <a:r>
              <a:rPr lang="en-US" dirty="0"/>
              <a:t>CBIR operates at the </a:t>
            </a:r>
            <a:r>
              <a:rPr lang="en-US" b="1" dirty="0"/>
              <a:t>high level of image analysis</a:t>
            </a:r>
            <a:r>
              <a:rPr lang="en-US" dirty="0"/>
              <a:t>, because it attempts to answer the question:</a:t>
            </a:r>
            <a:br>
              <a:rPr lang="en-US" dirty="0"/>
            </a:br>
            <a:r>
              <a:rPr lang="en-US" i="1" dirty="0"/>
              <a:t>Which images are visually or semantically similar to this one?</a:t>
            </a:r>
            <a:endParaRPr lang="en-US" dirty="0"/>
          </a:p>
          <a:p>
            <a:r>
              <a:rPr lang="en-US" dirty="0"/>
              <a:t>This task is challenging because </a:t>
            </a:r>
            <a:r>
              <a:rPr lang="en-US" b="1" dirty="0"/>
              <a:t>visual similarity does not always match human perception or semantic meaning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Two images may look similar in </a:t>
            </a:r>
            <a:r>
              <a:rPr lang="en-US" dirty="0" err="1"/>
              <a:t>colour</a:t>
            </a:r>
            <a:r>
              <a:rPr lang="en-US" dirty="0"/>
              <a:t> or texture but represent very different concepts.</a:t>
            </a:r>
          </a:p>
          <a:p>
            <a:r>
              <a:rPr lang="en-US" dirty="0"/>
              <a:t>CBIR systems are used in many applications, including:</a:t>
            </a:r>
          </a:p>
          <a:p>
            <a:r>
              <a:rPr lang="en-US" dirty="0"/>
              <a:t>Medical image databases</a:t>
            </a:r>
          </a:p>
          <a:p>
            <a:r>
              <a:rPr lang="en-US" dirty="0"/>
              <a:t>Digital libraries and archives</a:t>
            </a:r>
          </a:p>
          <a:p>
            <a:r>
              <a:rPr lang="en-US" dirty="0"/>
              <a:t>Surveillance and forensics</a:t>
            </a:r>
          </a:p>
          <a:p>
            <a:r>
              <a:rPr lang="en-US" dirty="0"/>
              <a:t>E-commerce and multimedia search</a:t>
            </a:r>
          </a:p>
          <a:p>
            <a:r>
              <a:rPr lang="en-US" dirty="0"/>
              <a:t>Modern CBIR systems increasingly rely on </a:t>
            </a:r>
            <a:r>
              <a:rPr lang="en-US" b="1" dirty="0"/>
              <a:t>learning-based representations</a:t>
            </a:r>
            <a:r>
              <a:rPr lang="en-US" dirty="0"/>
              <a:t>, but the core principle remains the same:</a:t>
            </a:r>
            <a:br>
              <a:rPr lang="en-US" dirty="0"/>
            </a:br>
            <a:r>
              <a:rPr lang="en-US" b="1" dirty="0"/>
              <a:t>retrieve images based on content, not text</a:t>
            </a:r>
            <a:r>
              <a:rPr lang="en-US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648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Biometrics refers to the </a:t>
            </a:r>
            <a:r>
              <a:rPr lang="en-US" b="1" dirty="0"/>
              <a:t>automatic identification or verification of individuals</a:t>
            </a:r>
            <a:r>
              <a:rPr lang="en-US" dirty="0"/>
              <a:t> based on their </a:t>
            </a:r>
            <a:r>
              <a:rPr lang="en-US" b="1" dirty="0"/>
              <a:t>biological or </a:t>
            </a:r>
            <a:r>
              <a:rPr lang="en-US" b="1" dirty="0" err="1"/>
              <a:t>behavioural</a:t>
            </a:r>
            <a:r>
              <a:rPr lang="en-US" b="1" dirty="0"/>
              <a:t> characteristics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 image processing, this typically involves </a:t>
            </a:r>
            <a:r>
              <a:rPr lang="en-US" dirty="0" err="1"/>
              <a:t>analysing</a:t>
            </a:r>
            <a:r>
              <a:rPr lang="en-US" dirty="0"/>
              <a:t> </a:t>
            </a:r>
            <a:r>
              <a:rPr lang="en-US" b="1" dirty="0"/>
              <a:t>visual patterns that are unique to each person</a:t>
            </a:r>
            <a:r>
              <a:rPr lang="en-US" dirty="0"/>
              <a:t>.</a:t>
            </a:r>
          </a:p>
          <a:p>
            <a:r>
              <a:rPr lang="en-US" dirty="0"/>
              <a:t>The two examples shown here are </a:t>
            </a:r>
            <a:r>
              <a:rPr lang="en-US" b="1" dirty="0"/>
              <a:t>iris recognition</a:t>
            </a:r>
            <a:r>
              <a:rPr lang="en-US" dirty="0"/>
              <a:t> on the left and </a:t>
            </a:r>
            <a:r>
              <a:rPr lang="en-US" b="1" dirty="0"/>
              <a:t>fingerprint analysis</a:t>
            </a:r>
            <a:r>
              <a:rPr lang="en-US" dirty="0"/>
              <a:t> on the right.</a:t>
            </a:r>
            <a:br>
              <a:rPr lang="en-US" dirty="0"/>
            </a:br>
            <a:r>
              <a:rPr lang="en-US" dirty="0"/>
              <a:t>Both rely on the fact that certain anatomical patterns are </a:t>
            </a:r>
            <a:r>
              <a:rPr lang="en-US" b="1" dirty="0"/>
              <a:t>highly distinctive and stable over time</a:t>
            </a:r>
            <a:r>
              <a:rPr lang="en-US" dirty="0"/>
              <a:t>.</a:t>
            </a:r>
          </a:p>
          <a:p>
            <a:r>
              <a:rPr lang="en-US" dirty="0"/>
              <a:t>In iris recognition, the system analyses complex texture patterns in the </a:t>
            </a:r>
            <a:r>
              <a:rPr lang="en-US" dirty="0" err="1"/>
              <a:t>coloured</a:t>
            </a:r>
            <a:r>
              <a:rPr lang="en-US" dirty="0"/>
              <a:t> region surrounding the pupil.</a:t>
            </a:r>
            <a:br>
              <a:rPr lang="en-US" dirty="0"/>
            </a:br>
            <a:r>
              <a:rPr lang="en-US" dirty="0"/>
              <a:t>These patterns are captured using </a:t>
            </a:r>
            <a:r>
              <a:rPr lang="en-US" dirty="0" err="1"/>
              <a:t>specialised</a:t>
            </a:r>
            <a:r>
              <a:rPr lang="en-US" dirty="0"/>
              <a:t> imaging and encoded into a compact digital representation.</a:t>
            </a:r>
          </a:p>
          <a:p>
            <a:r>
              <a:rPr lang="en-US" dirty="0"/>
              <a:t>In fingerprint recognition, the focus is on </a:t>
            </a:r>
            <a:r>
              <a:rPr lang="en-US" b="1" dirty="0"/>
              <a:t>structural features</a:t>
            </a:r>
            <a:r>
              <a:rPr lang="en-US" dirty="0"/>
              <a:t>, such as ridge endings, bifurcations, and core points.</a:t>
            </a:r>
            <a:br>
              <a:rPr lang="en-US" dirty="0"/>
            </a:br>
            <a:r>
              <a:rPr lang="en-US" dirty="0"/>
              <a:t>These features, often called </a:t>
            </a:r>
            <a:r>
              <a:rPr lang="en-US" b="1" dirty="0"/>
              <a:t>minutiae</a:t>
            </a:r>
            <a:r>
              <a:rPr lang="en-US" dirty="0"/>
              <a:t>, form the basis for matching fingerprints across databases.</a:t>
            </a:r>
          </a:p>
          <a:p>
            <a:r>
              <a:rPr lang="en-US" dirty="0"/>
              <a:t>From an image processing perspective, biometric systems involve multiple stages:</a:t>
            </a:r>
          </a:p>
          <a:p>
            <a:r>
              <a:rPr lang="en-US" dirty="0"/>
              <a:t>Image acquisition under controlled conditions</a:t>
            </a:r>
          </a:p>
          <a:p>
            <a:r>
              <a:rPr lang="en-US" dirty="0"/>
              <a:t>Enhancement to improve contrast and clarity</a:t>
            </a:r>
          </a:p>
          <a:p>
            <a:r>
              <a:rPr lang="en-US" dirty="0"/>
              <a:t>Feature extraction to identify distinctive patterns</a:t>
            </a:r>
          </a:p>
          <a:p>
            <a:r>
              <a:rPr lang="en-US" dirty="0"/>
              <a:t>Matching or classification for identification or verification</a:t>
            </a:r>
          </a:p>
          <a:p>
            <a:r>
              <a:rPr lang="en-US" dirty="0"/>
              <a:t>Biometrics operates at the </a:t>
            </a:r>
            <a:r>
              <a:rPr lang="en-US" b="1" dirty="0"/>
              <a:t>high level of image analysis</a:t>
            </a:r>
            <a:r>
              <a:rPr lang="en-US" dirty="0"/>
              <a:t>, because the goal is not just to process images, but to </a:t>
            </a:r>
            <a:r>
              <a:rPr lang="en-US" b="1" dirty="0"/>
              <a:t>establish identity</a:t>
            </a:r>
            <a:r>
              <a:rPr lang="en-US" dirty="0"/>
              <a:t>.</a:t>
            </a:r>
          </a:p>
          <a:p>
            <a:r>
              <a:rPr lang="en-US" dirty="0"/>
              <a:t>These systems are widely used in applications such as:</a:t>
            </a:r>
          </a:p>
          <a:p>
            <a:r>
              <a:rPr lang="en-US" dirty="0"/>
              <a:t>Access control and authentication</a:t>
            </a:r>
          </a:p>
          <a:p>
            <a:r>
              <a:rPr lang="en-US" dirty="0"/>
              <a:t>Border security and passports</a:t>
            </a:r>
          </a:p>
          <a:p>
            <a:r>
              <a:rPr lang="en-US" dirty="0"/>
              <a:t>Forensic identification</a:t>
            </a:r>
          </a:p>
          <a:p>
            <a:r>
              <a:rPr lang="en-US" dirty="0"/>
              <a:t>Mobile device security</a:t>
            </a:r>
          </a:p>
          <a:p>
            <a:r>
              <a:rPr lang="en-US" dirty="0"/>
              <a:t>A key challenge in biometric systems is </a:t>
            </a:r>
            <a:r>
              <a:rPr lang="en-US" b="1" dirty="0"/>
              <a:t>variability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Images may differ due to lighting, pose, noise, or partial occlusion, yet the system must remain reliable.</a:t>
            </a:r>
          </a:p>
          <a:p>
            <a:r>
              <a:rPr lang="en-US" dirty="0"/>
              <a:t>This makes biometrics a strong example of how </a:t>
            </a:r>
            <a:r>
              <a:rPr lang="en-US" b="1" dirty="0"/>
              <a:t>image processing, pattern recognition, and decision-making</a:t>
            </a:r>
            <a:r>
              <a:rPr lang="en-US" dirty="0"/>
              <a:t> come together in a real-world system.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5175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Super-resolution refers to a class of techniques that aim to </a:t>
            </a:r>
            <a:r>
              <a:rPr lang="en-US" b="1" dirty="0"/>
              <a:t>increase the spatial resolution of an image</a:t>
            </a:r>
            <a:r>
              <a:rPr lang="en-US" dirty="0"/>
              <a:t>, producing a higher-resolution version from one or more low-resolution observations.</a:t>
            </a:r>
          </a:p>
          <a:p>
            <a:r>
              <a:rPr lang="en-US" dirty="0"/>
              <a:t>The example shown here compares a </a:t>
            </a:r>
            <a:r>
              <a:rPr lang="en-US" b="1" dirty="0"/>
              <a:t>low-resolution image</a:t>
            </a:r>
            <a:r>
              <a:rPr lang="en-US" dirty="0"/>
              <a:t> on the left with a </a:t>
            </a:r>
            <a:r>
              <a:rPr lang="en-US" b="1" dirty="0"/>
              <a:t>super-resolved image</a:t>
            </a:r>
            <a:r>
              <a:rPr lang="en-US" dirty="0"/>
              <a:t> on the right.</a:t>
            </a:r>
            <a:br>
              <a:rPr lang="en-US" dirty="0"/>
            </a:br>
            <a:r>
              <a:rPr lang="en-US" dirty="0"/>
              <a:t>Notice that the goal is not just to enlarge the image, but to </a:t>
            </a:r>
            <a:r>
              <a:rPr lang="en-US" b="1" dirty="0"/>
              <a:t>recover finer details</a:t>
            </a:r>
            <a:r>
              <a:rPr lang="en-US" dirty="0"/>
              <a:t> that were not clearly visible before.</a:t>
            </a:r>
          </a:p>
          <a:p>
            <a:r>
              <a:rPr lang="en-US" dirty="0"/>
              <a:t>It is important to distinguish super-resolution from simple </a:t>
            </a:r>
            <a:r>
              <a:rPr lang="en-US" b="1" dirty="0"/>
              <a:t>interpolation</a:t>
            </a:r>
            <a:r>
              <a:rPr lang="en-US" dirty="0"/>
              <a:t>, such as nearest-</a:t>
            </a:r>
            <a:r>
              <a:rPr lang="en-US" dirty="0" err="1"/>
              <a:t>neighbour</a:t>
            </a:r>
            <a:r>
              <a:rPr lang="en-US" dirty="0"/>
              <a:t> or bicubic resizing.</a:t>
            </a:r>
            <a:br>
              <a:rPr lang="en-US" dirty="0"/>
            </a:br>
            <a:r>
              <a:rPr lang="en-US" dirty="0"/>
              <a:t>Interpolation only estimates new pixel values based on existing ones, often resulting in smooth but blurry images.</a:t>
            </a:r>
            <a:br>
              <a:rPr lang="en-US" dirty="0"/>
            </a:br>
            <a:r>
              <a:rPr lang="en-US" dirty="0"/>
              <a:t>Super-resolution, in contrast, attempts to </a:t>
            </a:r>
            <a:r>
              <a:rPr lang="en-US" b="1" dirty="0"/>
              <a:t>reconstruct high-frequency details</a:t>
            </a:r>
            <a:r>
              <a:rPr lang="en-US" dirty="0"/>
              <a:t>, such as edges and textures.</a:t>
            </a:r>
          </a:p>
          <a:p>
            <a:r>
              <a:rPr lang="en-US" dirty="0"/>
              <a:t>Super-resolution can be approached in two main ways:</a:t>
            </a:r>
          </a:p>
          <a:p>
            <a:r>
              <a:rPr lang="en-US" b="1" dirty="0"/>
              <a:t>Single-image super-resolution</a:t>
            </a:r>
            <a:r>
              <a:rPr lang="en-US" dirty="0"/>
              <a:t>, where a single low-resolution image is enhanced</a:t>
            </a:r>
          </a:p>
          <a:p>
            <a:r>
              <a:rPr lang="en-US" b="1" dirty="0"/>
              <a:t>Multi-image super-resolution</a:t>
            </a:r>
            <a:r>
              <a:rPr lang="en-US" dirty="0"/>
              <a:t>, where multiple low-resolution images of the same scene are combined</a:t>
            </a:r>
          </a:p>
          <a:p>
            <a:r>
              <a:rPr lang="en-US" dirty="0"/>
              <a:t>Conceptually, super-resolution relies on </a:t>
            </a:r>
            <a:r>
              <a:rPr lang="en-US" b="1" dirty="0"/>
              <a:t>prior knowledge</a:t>
            </a:r>
            <a:r>
              <a:rPr lang="en-US" dirty="0"/>
              <a:t> about natural images.</a:t>
            </a:r>
            <a:br>
              <a:rPr lang="en-US" dirty="0"/>
            </a:br>
            <a:r>
              <a:rPr lang="en-US" dirty="0"/>
              <a:t>This prior may come from statistical models, example patches, or learned representations.</a:t>
            </a:r>
          </a:p>
          <a:p>
            <a:r>
              <a:rPr lang="en-US" dirty="0"/>
              <a:t>From the image processing hierarchy, super-resolution lies between </a:t>
            </a:r>
            <a:r>
              <a:rPr lang="en-US" b="1" dirty="0"/>
              <a:t>restoration and analysis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more ambitious than denoising or deblurring, because it attempts to infer information that is not explicitly present in the input image.</a:t>
            </a:r>
          </a:p>
          <a:p>
            <a:r>
              <a:rPr lang="en-US" dirty="0"/>
              <a:t>Super-resolution has important applications in:</a:t>
            </a:r>
          </a:p>
          <a:p>
            <a:r>
              <a:rPr lang="en-US" dirty="0"/>
              <a:t>Medical imaging, where acquisition resolution is limited</a:t>
            </a:r>
          </a:p>
          <a:p>
            <a:r>
              <a:rPr lang="en-US" dirty="0"/>
              <a:t>Surveillance and remote sensing</a:t>
            </a:r>
          </a:p>
          <a:p>
            <a:r>
              <a:rPr lang="en-US" dirty="0"/>
              <a:t>Consumer photography and video enhancement</a:t>
            </a:r>
          </a:p>
          <a:p>
            <a:r>
              <a:rPr lang="en-US" dirty="0"/>
              <a:t>A key limitation to remember is that super-resolution is ultimately an </a:t>
            </a:r>
            <a:r>
              <a:rPr lang="en-US" b="1" dirty="0"/>
              <a:t>ill-posed problem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reconstructed details are plausible estimates, not guaranteed ground truth.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9008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</a:t>
            </a:r>
            <a:r>
              <a:rPr lang="en-US" b="1" dirty="0"/>
              <a:t>breadth and impact</a:t>
            </a:r>
            <a:r>
              <a:rPr lang="en-US" dirty="0"/>
              <a:t> of digital image processing across modern technology and society.</a:t>
            </a:r>
          </a:p>
          <a:p>
            <a:r>
              <a:rPr lang="en-US" dirty="0"/>
              <a:t>In </a:t>
            </a:r>
            <a:r>
              <a:rPr lang="en-US" b="1" dirty="0"/>
              <a:t>digital cameras</a:t>
            </a:r>
            <a:r>
              <a:rPr lang="en-US" dirty="0"/>
              <a:t>, image processing is used continuously—often in real time—to perform noise reduction, </a:t>
            </a:r>
            <a:r>
              <a:rPr lang="en-US" dirty="0" err="1"/>
              <a:t>colour</a:t>
            </a:r>
            <a:r>
              <a:rPr lang="en-US" dirty="0"/>
              <a:t> correction, compression, and enhancement before an image is even saved.</a:t>
            </a:r>
          </a:p>
          <a:p>
            <a:r>
              <a:rPr lang="en-US" dirty="0"/>
              <a:t>Tools such as </a:t>
            </a:r>
            <a:r>
              <a:rPr lang="en-US" b="1" dirty="0"/>
              <a:t>Photoshop</a:t>
            </a:r>
            <a:r>
              <a:rPr lang="en-US" dirty="0"/>
              <a:t> represent the creative and professional side of image processing, where enhancement, restoration, and manipulation techniques are applied for visual communication and media production.</a:t>
            </a:r>
          </a:p>
          <a:p>
            <a:r>
              <a:rPr lang="en-US" dirty="0"/>
              <a:t>In </a:t>
            </a:r>
            <a:r>
              <a:rPr lang="en-US" b="1" dirty="0"/>
              <a:t>human–computer interaction</a:t>
            </a:r>
            <a:r>
              <a:rPr lang="en-US" dirty="0"/>
              <a:t>, image processing enables gesture recognition, face tracking, eye tracking, and augmented reality, allowing systems to respond naturally to human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r>
              <a:rPr lang="en-US" dirty="0"/>
              <a:t>One of the most critical application areas is </a:t>
            </a:r>
            <a:r>
              <a:rPr lang="en-US" b="1" dirty="0"/>
              <a:t>medical imaging for diagnosis and treatment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Here, image processing supports clinicians by improving image quality, enabling segmentation of organs or lesions, and assisting with quantitative analysis.</a:t>
            </a:r>
          </a:p>
          <a:p>
            <a:r>
              <a:rPr lang="en-US" b="1" dirty="0"/>
              <a:t>Surveillance systems</a:t>
            </a:r>
            <a:r>
              <a:rPr lang="en-US" dirty="0"/>
              <a:t> rely heavily on image analysis for detection, tracking, and recognition, often operating under challenging conditions such as low light or crowded scenes.</a:t>
            </a:r>
          </a:p>
          <a:p>
            <a:r>
              <a:rPr lang="en-US" dirty="0"/>
              <a:t>In </a:t>
            </a:r>
            <a:r>
              <a:rPr lang="en-US" b="1" dirty="0"/>
              <a:t>automatic driving</a:t>
            </a:r>
            <a:r>
              <a:rPr lang="en-US" dirty="0"/>
              <a:t>, image processing and computer vision are essential for lane detection, obstacle recognition, traffic sign interpretation, and scene understanding.</a:t>
            </a:r>
          </a:p>
          <a:p>
            <a:r>
              <a:rPr lang="en-US" dirty="0"/>
              <a:t>The ellipsis on this slide </a:t>
            </a:r>
            <a:r>
              <a:rPr lang="en-US" dirty="0" err="1"/>
              <a:t>emphasises</a:t>
            </a:r>
            <a:r>
              <a:rPr lang="en-US" dirty="0"/>
              <a:t> that this list is far from complete.</a:t>
            </a:r>
            <a:br>
              <a:rPr lang="en-US" dirty="0"/>
            </a:br>
            <a:r>
              <a:rPr lang="en-US" dirty="0"/>
              <a:t>Image processing underpins fields such as robotics, remote sensing, manufacturing, and scientific research.</a:t>
            </a:r>
          </a:p>
          <a:p>
            <a:r>
              <a:rPr lang="en-US" dirty="0"/>
              <a:t>The final point—</a:t>
            </a:r>
            <a:r>
              <a:rPr lang="en-US" b="1" dirty="0"/>
              <a:t>fast-growing market</a:t>
            </a:r>
            <a:r>
              <a:rPr lang="en-US" dirty="0"/>
              <a:t>—is important.</a:t>
            </a:r>
            <a:br>
              <a:rPr lang="en-US" dirty="0"/>
            </a:br>
            <a:r>
              <a:rPr lang="en-US" dirty="0"/>
              <a:t>Advances in sensors, computing power, and algorithms have made image processing one of the most rapidly expanding areas in engineering and applied science.</a:t>
            </a:r>
          </a:p>
          <a:p>
            <a:r>
              <a:rPr lang="en-US" dirty="0"/>
              <a:t>This course provides the </a:t>
            </a:r>
            <a:r>
              <a:rPr lang="en-US" b="1" dirty="0"/>
              <a:t>foundational principles</a:t>
            </a:r>
            <a:r>
              <a:rPr lang="en-US" dirty="0"/>
              <a:t> that support all of these applications, regardless of how technologies evolve.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F3E1E-4587-4586-92F5-CB2C26E2AE36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614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4540" y="1004061"/>
            <a:ext cx="761491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124968"/>
            <a:ext cx="6858000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77940"/>
            <a:ext cx="2103120" cy="276999"/>
          </a:xfrm>
        </p:spPr>
        <p:txBody>
          <a:bodyPr/>
          <a:lstStyle/>
          <a:p>
            <a:fld id="{90E13052-C116-4F95-8975-DF7B22A4ADD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08960" y="6377940"/>
            <a:ext cx="292608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CE25A3B7-A6A8-43C9-8D09-253530D6A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76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30" y="1600961"/>
            <a:ext cx="8479790" cy="0"/>
          </a:xfrm>
          <a:custGeom>
            <a:avLst/>
            <a:gdLst/>
            <a:ahLst/>
            <a:cxnLst/>
            <a:rect l="l" t="t" r="r" b="b"/>
            <a:pathLst>
              <a:path w="8479790">
                <a:moveTo>
                  <a:pt x="0" y="0"/>
                </a:moveTo>
                <a:lnTo>
                  <a:pt x="8479536" y="0"/>
                </a:lnTo>
              </a:path>
            </a:pathLst>
          </a:custGeom>
          <a:ln w="19050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668" y="1600199"/>
            <a:ext cx="8479790" cy="0"/>
          </a:xfrm>
          <a:custGeom>
            <a:avLst/>
            <a:gdLst/>
            <a:ahLst/>
            <a:cxnLst/>
            <a:rect l="l" t="t" r="r" b="b"/>
            <a:pathLst>
              <a:path w="8479790">
                <a:moveTo>
                  <a:pt x="0" y="0"/>
                </a:moveTo>
                <a:lnTo>
                  <a:pt x="8479536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4540" y="638302"/>
            <a:ext cx="761491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3948" y="2566238"/>
            <a:ext cx="4610735" cy="2369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kollewin.com/blog/electromagnetic-spectru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5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hyperlink" Target="http://radiology.rsna.org/" TargetMode="External"/><Relationship Id="rId5" Type="http://schemas.openxmlformats.org/officeDocument/2006/relationships/hyperlink" Target="http://www.imaging1.com/" TargetMode="External"/><Relationship Id="rId10" Type="http://schemas.openxmlformats.org/officeDocument/2006/relationships/hyperlink" Target="http://en.wikipedia.org/" TargetMode="External"/><Relationship Id="rId4" Type="http://schemas.openxmlformats.org/officeDocument/2006/relationships/hyperlink" Target="http://emap-int.com/" TargetMode="External"/><Relationship Id="rId9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817466"/>
            <a:ext cx="6858000" cy="692497"/>
          </a:xfrm>
        </p:spPr>
        <p:txBody>
          <a:bodyPr/>
          <a:lstStyle/>
          <a:p>
            <a:r>
              <a:rPr lang="en-US" b="1" dirty="0">
                <a:latin typeface="Bahnschrift" panose="020B0502040204020203" pitchFamily="34" charset="0"/>
              </a:rPr>
              <a:t>Digital Image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About the class</a:t>
            </a:r>
          </a:p>
        </p:txBody>
      </p:sp>
    </p:spTree>
    <p:extLst>
      <p:ext uri="{BB962C8B-B14F-4D97-AF65-F5344CB8AC3E}">
        <p14:creationId xmlns:p14="http://schemas.microsoft.com/office/powerpoint/2010/main" val="225018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04061"/>
            <a:ext cx="3124835" cy="302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Bahnschrift" panose="020B0502040204020203" pitchFamily="34" charset="0"/>
                <a:cs typeface="Arial Black"/>
              </a:rPr>
              <a:t>Tentative</a:t>
            </a:r>
            <a:r>
              <a:rPr sz="2800" b="1" spc="-40" dirty="0">
                <a:latin typeface="Bahnschrift" panose="020B0502040204020203" pitchFamily="34" charset="0"/>
                <a:cs typeface="Arial Black"/>
              </a:rPr>
              <a:t> </a:t>
            </a:r>
            <a:r>
              <a:rPr sz="2800" b="1" spc="-5" dirty="0">
                <a:latin typeface="Bahnschrift" panose="020B0502040204020203" pitchFamily="34" charset="0"/>
                <a:cs typeface="Arial Black"/>
              </a:rPr>
              <a:t>Syllabus</a:t>
            </a:r>
            <a:endParaRPr sz="2800" b="1" dirty="0">
              <a:latin typeface="Bahnschrift" panose="020B0502040204020203" pitchFamily="34" charset="0"/>
              <a:cs typeface="Arial Black"/>
            </a:endParaRPr>
          </a:p>
          <a:p>
            <a:pPr marL="355600" indent="-343535">
              <a:lnSpc>
                <a:spcPct val="100000"/>
              </a:lnSpc>
              <a:spcBef>
                <a:spcPts val="293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b="1" spc="-5" dirty="0">
                <a:latin typeface="Bahnschrift" panose="020B0502040204020203" pitchFamily="34" charset="0"/>
                <a:cs typeface="Arial"/>
              </a:rPr>
              <a:t>Prerequisites</a:t>
            </a:r>
            <a:endParaRPr sz="2400" dirty="0">
              <a:latin typeface="Bahnschrift" panose="020B0502040204020203" pitchFamily="34" charset="0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b="1" spc="-5" dirty="0">
                <a:latin typeface="Bahnschrift" panose="020B0502040204020203" pitchFamily="34" charset="0"/>
                <a:cs typeface="Arial"/>
              </a:rPr>
              <a:t>Objectives</a:t>
            </a:r>
            <a:endParaRPr sz="2400" dirty="0">
              <a:latin typeface="Bahnschrift" panose="020B0502040204020203" pitchFamily="34" charset="0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b="1" spc="-5" dirty="0">
                <a:latin typeface="Bahnschrift" panose="020B0502040204020203" pitchFamily="34" charset="0"/>
                <a:cs typeface="Arial"/>
              </a:rPr>
              <a:t>Textbook</a:t>
            </a:r>
            <a:endParaRPr sz="2400" dirty="0">
              <a:latin typeface="Bahnschrift" panose="020B0502040204020203" pitchFamily="34" charset="0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b="1" dirty="0">
                <a:latin typeface="Bahnschrift" panose="020B0502040204020203" pitchFamily="34" charset="0"/>
                <a:cs typeface="Arial"/>
              </a:rPr>
              <a:t>Grade</a:t>
            </a:r>
            <a:endParaRPr sz="2400" dirty="0">
              <a:latin typeface="Bahnschrift" panose="020B0502040204020203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540" y="638302"/>
            <a:ext cx="7614919" cy="369332"/>
          </a:xfrm>
        </p:spPr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About Instructor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8458200" cy="4672762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800" dirty="0">
                <a:latin typeface="Bahnschrift" panose="020B0502040204020203" pitchFamily="34" charset="0"/>
              </a:rPr>
              <a:t>Dr. Behnam Kiani </a:t>
            </a:r>
            <a:r>
              <a:rPr lang="en-US" sz="1800" dirty="0" err="1">
                <a:latin typeface="Bahnschrift" panose="020B0502040204020203" pitchFamily="34" charset="0"/>
              </a:rPr>
              <a:t>Kalejahi</a:t>
            </a:r>
            <a:endParaRPr lang="en-US" sz="1800" dirty="0">
              <a:latin typeface="Bahnschrift" panose="020B0502040204020203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800" b="0" dirty="0">
                <a:latin typeface="Bahnschrift" panose="020B0502040204020203" pitchFamily="34" charset="0"/>
              </a:rPr>
              <a:t>PhD in Biomedical Engineering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Bahnschrift" panose="020B0502040204020203" pitchFamily="34" charset="0"/>
              </a:rPr>
              <a:t>Area of Research Interest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Biomedical Image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Cyber Security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Bahnschrift" panose="020B0502040204020203" pitchFamily="34" charset="0"/>
              </a:rPr>
              <a:t>Contact:</a:t>
            </a:r>
          </a:p>
          <a:p>
            <a:pPr lvl="1">
              <a:lnSpc>
                <a:spcPct val="17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B.kiani@centralasian.uz</a:t>
            </a:r>
            <a:r>
              <a:rPr lang="en-US" dirty="0">
                <a:latin typeface="Bahnschrift" panose="020B0502040204020203" pitchFamily="34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Bahnschrift" panose="020B0502040204020203" pitchFamily="34" charset="0"/>
              </a:rPr>
              <a:t>Consultation hours(Tentative):  </a:t>
            </a:r>
            <a:r>
              <a:rPr lang="en-US" sz="1800" b="0" dirty="0">
                <a:latin typeface="Bahnschrift" panose="020B0502040204020203" pitchFamily="34" charset="0"/>
              </a:rPr>
              <a:t>Monday-Thursday 15:00 to 17:00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Bahnschrift" panose="020B0502040204020203" pitchFamily="34" charset="0"/>
              </a:rPr>
              <a:t>Office:  </a:t>
            </a:r>
            <a:r>
              <a:rPr lang="en-US" sz="1800" b="0" dirty="0">
                <a:latin typeface="Bahnschrift" panose="020B0502040204020203" pitchFamily="34" charset="0"/>
              </a:rPr>
              <a:t>Room # A - 257</a:t>
            </a:r>
          </a:p>
          <a:p>
            <a:pPr>
              <a:lnSpc>
                <a:spcPct val="170000"/>
              </a:lnSpc>
            </a:pPr>
            <a:endParaRPr lang="en-US" sz="1800" dirty="0">
              <a:latin typeface="Bahnschrift" panose="020B0502040204020203" pitchFamily="34" charset="0"/>
            </a:endParaRPr>
          </a:p>
          <a:p>
            <a:pPr lvl="1">
              <a:lnSpc>
                <a:spcPct val="170000"/>
              </a:lnSpc>
            </a:pPr>
            <a:endParaRPr lang="en-US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93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4751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Prerequisites</a:t>
            </a:r>
            <a:r>
              <a:rPr spc="-2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5" dirty="0"/>
              <a:t>This</a:t>
            </a:r>
            <a:r>
              <a:rPr spc="-25" dirty="0"/>
              <a:t> </a:t>
            </a:r>
            <a:r>
              <a:rPr dirty="0"/>
              <a:t>Course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705483"/>
            <a:ext cx="6845934" cy="36417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b="1" dirty="0">
                <a:latin typeface="Bahnschrift" panose="020B0502040204020203" pitchFamily="34" charset="0"/>
                <a:cs typeface="Arial"/>
              </a:rPr>
              <a:t>This</a:t>
            </a:r>
            <a:r>
              <a:rPr sz="2400" b="1" spc="-15" dirty="0">
                <a:latin typeface="Bahnschrift" panose="020B0502040204020203" pitchFamily="34" charset="0"/>
                <a:cs typeface="Arial"/>
              </a:rPr>
              <a:t> </a:t>
            </a:r>
            <a:r>
              <a:rPr sz="2400" b="1" dirty="0">
                <a:latin typeface="Bahnschrift" panose="020B0502040204020203" pitchFamily="34" charset="0"/>
                <a:cs typeface="Arial"/>
              </a:rPr>
              <a:t>is</a:t>
            </a:r>
            <a:r>
              <a:rPr sz="2400" b="1" spc="-40" dirty="0">
                <a:latin typeface="Bahnschrift" panose="020B0502040204020203" pitchFamily="34" charset="0"/>
                <a:cs typeface="Arial"/>
              </a:rPr>
              <a:t> </a:t>
            </a:r>
            <a:r>
              <a:rPr sz="2400" b="1" dirty="0">
                <a:latin typeface="Bahnschrift" panose="020B0502040204020203" pitchFamily="34" charset="0"/>
                <a:cs typeface="Arial"/>
              </a:rPr>
              <a:t>a</a:t>
            </a:r>
            <a:r>
              <a:rPr sz="2400" b="1" spc="-15" dirty="0">
                <a:latin typeface="Bahnschrift" panose="020B0502040204020203" pitchFamily="34" charset="0"/>
                <a:cs typeface="Arial"/>
              </a:rPr>
              <a:t> </a:t>
            </a:r>
            <a:r>
              <a:rPr sz="2400" b="1" spc="-5" dirty="0">
                <a:latin typeface="Bahnschrift" panose="020B0502040204020203" pitchFamily="34" charset="0"/>
                <a:cs typeface="Arial"/>
              </a:rPr>
              <a:t>computer</a:t>
            </a:r>
            <a:r>
              <a:rPr sz="2400" b="1" spc="-20" dirty="0">
                <a:latin typeface="Bahnschrift" panose="020B0502040204020203" pitchFamily="34" charset="0"/>
                <a:cs typeface="Arial"/>
              </a:rPr>
              <a:t> </a:t>
            </a:r>
            <a:r>
              <a:rPr sz="2400" b="1" spc="-5" dirty="0">
                <a:latin typeface="Bahnschrift" panose="020B0502040204020203" pitchFamily="34" charset="0"/>
                <a:cs typeface="Arial"/>
              </a:rPr>
              <a:t>science</a:t>
            </a:r>
            <a:r>
              <a:rPr sz="2400" b="1" spc="-15" dirty="0">
                <a:latin typeface="Bahnschrift" panose="020B0502040204020203" pitchFamily="34" charset="0"/>
                <a:cs typeface="Arial"/>
              </a:rPr>
              <a:t> </a:t>
            </a:r>
            <a:r>
              <a:rPr sz="2400" b="1" spc="-5" dirty="0">
                <a:latin typeface="Bahnschrift" panose="020B0502040204020203" pitchFamily="34" charset="0"/>
                <a:cs typeface="Arial"/>
              </a:rPr>
              <a:t>course</a:t>
            </a:r>
            <a:endParaRPr sz="2400" dirty="0">
              <a:latin typeface="Bahnschrift" panose="020B0502040204020203" pitchFamily="34" charset="0"/>
              <a:cs typeface="Arial"/>
            </a:endParaRPr>
          </a:p>
          <a:p>
            <a:pPr marL="527685" indent="-173990">
              <a:lnSpc>
                <a:spcPct val="100000"/>
              </a:lnSpc>
              <a:spcBef>
                <a:spcPts val="290"/>
              </a:spcBef>
              <a:buChar char="•"/>
              <a:tabLst>
                <a:tab pos="528320" algn="l"/>
              </a:tabLst>
            </a:pPr>
            <a:r>
              <a:rPr sz="2400" dirty="0">
                <a:latin typeface="Bahnschrift" panose="020B0502040204020203" pitchFamily="34" charset="0"/>
                <a:cs typeface="Arial MT"/>
              </a:rPr>
              <a:t>It</a:t>
            </a:r>
            <a:r>
              <a:rPr sz="2400" spc="-2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will</a:t>
            </a:r>
            <a:r>
              <a:rPr sz="2400" spc="1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involve</a:t>
            </a:r>
            <a:r>
              <a:rPr sz="2400" spc="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dirty="0">
                <a:latin typeface="Bahnschrift" panose="020B0502040204020203" pitchFamily="34" charset="0"/>
                <a:cs typeface="Arial MT"/>
              </a:rPr>
              <a:t>a</a:t>
            </a:r>
            <a:r>
              <a:rPr sz="2400" spc="-1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fair</a:t>
            </a:r>
            <a:r>
              <a:rPr sz="2400" spc="-1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amount</a:t>
            </a:r>
            <a:r>
              <a:rPr sz="2400" spc="-1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of</a:t>
            </a:r>
            <a:r>
              <a:rPr sz="2400" spc="-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dirty="0">
                <a:latin typeface="Bahnschrift" panose="020B0502040204020203" pitchFamily="34" charset="0"/>
                <a:cs typeface="Arial MT"/>
              </a:rPr>
              <a:t>math</a:t>
            </a:r>
          </a:p>
          <a:p>
            <a:pPr marL="641985">
              <a:lnSpc>
                <a:spcPct val="100000"/>
              </a:lnSpc>
              <a:spcBef>
                <a:spcPts val="244"/>
              </a:spcBef>
            </a:pPr>
            <a:r>
              <a:rPr sz="2000" dirty="0">
                <a:latin typeface="Bahnschrift" panose="020B0502040204020203" pitchFamily="34" charset="0"/>
                <a:cs typeface="Arial MT"/>
              </a:rPr>
              <a:t>–</a:t>
            </a:r>
            <a:r>
              <a:rPr sz="2000" spc="-3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c</a:t>
            </a:r>
            <a:r>
              <a:rPr sz="2000" spc="5" dirty="0">
                <a:latin typeface="Bahnschrift" panose="020B0502040204020203" pitchFamily="34" charset="0"/>
                <a:cs typeface="Arial MT"/>
              </a:rPr>
              <a:t>a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lc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u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lu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s,</a:t>
            </a:r>
            <a:r>
              <a:rPr sz="2000" spc="-3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linea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r</a:t>
            </a:r>
            <a:r>
              <a:rPr sz="2000" spc="-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alge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bra,</a:t>
            </a:r>
            <a:r>
              <a:rPr sz="2000" spc="-3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geometry</a:t>
            </a:r>
            <a:endParaRPr sz="2000" dirty="0">
              <a:latin typeface="Bahnschrift" panose="020B0502040204020203" pitchFamily="34" charset="0"/>
              <a:cs typeface="Arial MT"/>
            </a:endParaRPr>
          </a:p>
          <a:p>
            <a:pPr marL="6419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Bahnschrift" panose="020B0502040204020203" pitchFamily="34" charset="0"/>
                <a:cs typeface="Arial MT"/>
              </a:rPr>
              <a:t>–</a:t>
            </a:r>
            <a:r>
              <a:rPr sz="2000" spc="-3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p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r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oba</a:t>
            </a:r>
            <a:r>
              <a:rPr sz="2000" spc="5" dirty="0">
                <a:latin typeface="Bahnschrift" panose="020B0502040204020203" pitchFamily="34" charset="0"/>
                <a:cs typeface="Arial MT"/>
              </a:rPr>
              <a:t>b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ili</a:t>
            </a:r>
            <a:r>
              <a:rPr sz="2000" spc="-10" dirty="0">
                <a:latin typeface="Bahnschrift" panose="020B0502040204020203" pitchFamily="34" charset="0"/>
                <a:cs typeface="Arial MT"/>
              </a:rPr>
              <a:t>t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y</a:t>
            </a:r>
          </a:p>
          <a:p>
            <a:pPr marL="6419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Bahnschrift" panose="020B0502040204020203" pitchFamily="34" charset="0"/>
                <a:cs typeface="Arial MT"/>
              </a:rPr>
              <a:t>–</a:t>
            </a:r>
            <a:r>
              <a:rPr sz="2000" spc="-3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anal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o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g/digi</a:t>
            </a:r>
            <a:r>
              <a:rPr sz="2000" spc="-10" dirty="0">
                <a:latin typeface="Bahnschrift" panose="020B0502040204020203" pitchFamily="34" charset="0"/>
                <a:cs typeface="Arial MT"/>
              </a:rPr>
              <a:t>t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a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l</a:t>
            </a:r>
            <a:r>
              <a:rPr sz="2000" spc="-2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sig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na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l</a:t>
            </a:r>
            <a:r>
              <a:rPr sz="2000" spc="-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p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r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o</a:t>
            </a:r>
            <a:r>
              <a:rPr sz="2000" spc="5" dirty="0">
                <a:latin typeface="Bahnschrift" panose="020B0502040204020203" pitchFamily="34" charset="0"/>
                <a:cs typeface="Arial MT"/>
              </a:rPr>
              <a:t>c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e</a:t>
            </a:r>
            <a:r>
              <a:rPr sz="2000" spc="5" dirty="0">
                <a:latin typeface="Bahnschrift" panose="020B0502040204020203" pitchFamily="34" charset="0"/>
                <a:cs typeface="Arial MT"/>
              </a:rPr>
              <a:t>s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sing</a:t>
            </a:r>
          </a:p>
          <a:p>
            <a:pPr marL="6419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Bahnschrift" panose="020B0502040204020203" pitchFamily="34" charset="0"/>
                <a:cs typeface="Arial MT"/>
              </a:rPr>
              <a:t>–</a:t>
            </a:r>
            <a:r>
              <a:rPr sz="2000" spc="-3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g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r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ap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h</a:t>
            </a:r>
            <a:r>
              <a:rPr sz="2000" spc="-2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theory</a:t>
            </a:r>
            <a:r>
              <a:rPr sz="2000" spc="-3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etc.</a:t>
            </a:r>
            <a:endParaRPr sz="2000" dirty="0">
              <a:latin typeface="Bahnschrift" panose="020B0502040204020203" pitchFamily="34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 dirty="0">
              <a:latin typeface="Bahnschrift" panose="020B0502040204020203" pitchFamily="34" charset="0"/>
              <a:cs typeface="Arial MT"/>
            </a:endParaRPr>
          </a:p>
          <a:p>
            <a:pPr marL="527685" marR="5080" indent="-173990">
              <a:lnSpc>
                <a:spcPts val="2590"/>
              </a:lnSpc>
              <a:buChar char="•"/>
              <a:tabLst>
                <a:tab pos="528320" algn="l"/>
              </a:tabLst>
            </a:pPr>
            <a:r>
              <a:rPr sz="2400" dirty="0">
                <a:latin typeface="Bahnschrift" panose="020B0502040204020203" pitchFamily="34" charset="0"/>
                <a:cs typeface="Arial MT"/>
              </a:rPr>
              <a:t>It</a:t>
            </a:r>
            <a:r>
              <a:rPr sz="2400" spc="-2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will</a:t>
            </a:r>
            <a:r>
              <a:rPr sz="2400" spc="1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involve</a:t>
            </a:r>
            <a:r>
              <a:rPr sz="2400" spc="1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dirty="0">
                <a:latin typeface="Bahnschrift" panose="020B0502040204020203" pitchFamily="34" charset="0"/>
                <a:cs typeface="Arial MT"/>
              </a:rPr>
              <a:t>the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 modeling</a:t>
            </a:r>
            <a:r>
              <a:rPr sz="2400" spc="1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and</a:t>
            </a:r>
            <a:r>
              <a:rPr sz="240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design</a:t>
            </a:r>
            <a:r>
              <a:rPr sz="2400" spc="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of</a:t>
            </a:r>
            <a:r>
              <a:rPr sz="2400" spc="-1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dirty="0">
                <a:latin typeface="Bahnschrift" panose="020B0502040204020203" pitchFamily="34" charset="0"/>
                <a:cs typeface="Arial MT"/>
              </a:rPr>
              <a:t>a</a:t>
            </a:r>
            <a:r>
              <a:rPr sz="2400" spc="-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spc="-5" dirty="0">
                <a:latin typeface="Bahnschrift" panose="020B0502040204020203" pitchFamily="34" charset="0"/>
                <a:cs typeface="Arial MT"/>
              </a:rPr>
              <a:t>real </a:t>
            </a:r>
            <a:r>
              <a:rPr sz="2400" spc="-65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400" dirty="0">
                <a:latin typeface="Bahnschrift" panose="020B0502040204020203" pitchFamily="34" charset="0"/>
                <a:cs typeface="Arial MT"/>
              </a:rPr>
              <a:t>system</a:t>
            </a:r>
          </a:p>
          <a:p>
            <a:pPr marL="641985">
              <a:lnSpc>
                <a:spcPct val="100000"/>
              </a:lnSpc>
              <a:spcBef>
                <a:spcPts val="210"/>
              </a:spcBef>
            </a:pPr>
            <a:r>
              <a:rPr sz="2000" dirty="0">
                <a:latin typeface="Bahnschrift" panose="020B0502040204020203" pitchFamily="34" charset="0"/>
                <a:cs typeface="Arial MT"/>
              </a:rPr>
              <a:t>–</a:t>
            </a:r>
            <a:r>
              <a:rPr sz="2000" spc="-3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Prog</a:t>
            </a:r>
            <a:r>
              <a:rPr sz="2000" spc="5" dirty="0">
                <a:latin typeface="Bahnschrift" panose="020B0502040204020203" pitchFamily="34" charset="0"/>
                <a:cs typeface="Arial MT"/>
              </a:rPr>
              <a:t>r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ammin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g</a:t>
            </a:r>
            <a:r>
              <a:rPr sz="2000" spc="-4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s</a:t>
            </a:r>
            <a:r>
              <a:rPr sz="2000" spc="10" dirty="0">
                <a:latin typeface="Bahnschrift" panose="020B0502040204020203" pitchFamily="34" charset="0"/>
                <a:cs typeface="Arial MT"/>
              </a:rPr>
              <a:t>k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ill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s</a:t>
            </a:r>
            <a:r>
              <a:rPr sz="2000" spc="-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wit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h</a:t>
            </a:r>
            <a:r>
              <a:rPr sz="2000" spc="1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matla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b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,</a:t>
            </a:r>
            <a:r>
              <a:rPr sz="2000" spc="-20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P</a:t>
            </a:r>
            <a:r>
              <a:rPr sz="2000" spc="-10" dirty="0">
                <a:latin typeface="Bahnschrift" panose="020B0502040204020203" pitchFamily="34" charset="0"/>
                <a:cs typeface="Arial MT"/>
              </a:rPr>
              <a:t>y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thon,</a:t>
            </a:r>
            <a:r>
              <a:rPr sz="2000" spc="-2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o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r</a:t>
            </a:r>
            <a:r>
              <a:rPr sz="2000" spc="-15" dirty="0">
                <a:latin typeface="Bahnschrift" panose="020B0502040204020203" pitchFamily="34" charset="0"/>
                <a:cs typeface="Arial MT"/>
              </a:rPr>
              <a:t> </a:t>
            </a:r>
            <a:r>
              <a:rPr sz="2000" spc="-5" dirty="0">
                <a:latin typeface="Bahnschrift" panose="020B0502040204020203" pitchFamily="34" charset="0"/>
                <a:cs typeface="Arial MT"/>
              </a:rPr>
              <a:t>C</a:t>
            </a:r>
            <a:r>
              <a:rPr sz="2000" spc="5" dirty="0">
                <a:latin typeface="Bahnschrift" panose="020B0502040204020203" pitchFamily="34" charset="0"/>
                <a:cs typeface="Arial MT"/>
              </a:rPr>
              <a:t>+</a:t>
            </a:r>
            <a:r>
              <a:rPr sz="2000" dirty="0">
                <a:latin typeface="Bahnschrift" panose="020B0502040204020203" pitchFamily="34" charset="0"/>
                <a:cs typeface="Arial MT"/>
              </a:rPr>
              <a:t>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16002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Bahnschrift" panose="020B0502040204020203" pitchFamily="34" charset="0"/>
              </a:rPr>
              <a:t>Te</a:t>
            </a:r>
            <a:r>
              <a:rPr sz="2800" b="1" spc="-10" dirty="0">
                <a:latin typeface="Bahnschrift" panose="020B0502040204020203" pitchFamily="34" charset="0"/>
              </a:rPr>
              <a:t>x</a:t>
            </a:r>
            <a:r>
              <a:rPr sz="2800" b="1" dirty="0">
                <a:latin typeface="Bahnschrift" panose="020B0502040204020203" pitchFamily="34" charset="0"/>
              </a:rPr>
              <a:t>tbook</a:t>
            </a:r>
            <a:endParaRPr b="1" dirty="0">
              <a:latin typeface="Bahnschrift" panose="020B0502040204020203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7659" y="1597888"/>
            <a:ext cx="4399280" cy="158051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60"/>
              </a:spcBef>
            </a:pPr>
            <a:r>
              <a:rPr sz="2000" b="1" dirty="0">
                <a:latin typeface="Bahnschrift" panose="020B0502040204020203" pitchFamily="34" charset="0"/>
                <a:cs typeface="Arial"/>
              </a:rPr>
              <a:t>Required:</a:t>
            </a:r>
            <a:endParaRPr sz="2000" dirty="0">
              <a:latin typeface="Bahnschrift" panose="020B0502040204020203" pitchFamily="34" charset="0"/>
              <a:cs typeface="Arial"/>
            </a:endParaRPr>
          </a:p>
          <a:p>
            <a:pPr marL="38100" marR="30480">
              <a:lnSpc>
                <a:spcPct val="114999"/>
              </a:lnSpc>
              <a:spcBef>
                <a:spcPts val="600"/>
              </a:spcBef>
            </a:pPr>
            <a:r>
              <a:rPr sz="2000" b="1" i="1" spc="-5" dirty="0">
                <a:latin typeface="Bahnschrift" panose="020B0502040204020203" pitchFamily="34" charset="0"/>
                <a:cs typeface="Arial"/>
              </a:rPr>
              <a:t>Digital Image </a:t>
            </a:r>
            <a:r>
              <a:rPr sz="2000" b="1" i="1" dirty="0">
                <a:latin typeface="Bahnschrift" panose="020B0502040204020203" pitchFamily="34" charset="0"/>
                <a:cs typeface="Arial"/>
              </a:rPr>
              <a:t>Processing,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Rafael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C.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 Gonzalez</a:t>
            </a:r>
            <a:r>
              <a:rPr sz="2000" b="1" spc="-45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and Richard</a:t>
            </a:r>
            <a:r>
              <a:rPr sz="2000" b="1" spc="-3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E.</a:t>
            </a:r>
            <a:r>
              <a:rPr sz="2000" b="1" spc="-1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Woods,</a:t>
            </a:r>
            <a:r>
              <a:rPr sz="2000" b="1" spc="-2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10" dirty="0">
                <a:latin typeface="Bahnschrift" panose="020B0502040204020203" pitchFamily="34" charset="0"/>
                <a:cs typeface="Arial"/>
              </a:rPr>
              <a:t>4</a:t>
            </a:r>
            <a:r>
              <a:rPr sz="1950" b="1" spc="15" baseline="25641" dirty="0">
                <a:latin typeface="Bahnschrift" panose="020B0502040204020203" pitchFamily="34" charset="0"/>
                <a:cs typeface="Arial"/>
              </a:rPr>
              <a:t>th </a:t>
            </a:r>
            <a:r>
              <a:rPr sz="1950" b="1" spc="-525" baseline="25641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Edition,</a:t>
            </a:r>
            <a:r>
              <a:rPr sz="2000" b="1" spc="-3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Pearson</a:t>
            </a:r>
            <a:endParaRPr sz="2000" dirty="0">
              <a:latin typeface="Bahnschrift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059" y="3957904"/>
            <a:ext cx="4548505" cy="17790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b="1" dirty="0">
                <a:latin typeface="Bahnschrift" panose="020B0502040204020203" pitchFamily="34" charset="0"/>
                <a:cs typeface="Arial"/>
              </a:rPr>
              <a:t>We</a:t>
            </a:r>
            <a:r>
              <a:rPr b="1" spc="-35" dirty="0">
                <a:latin typeface="Bahnschrift" panose="020B0502040204020203" pitchFamily="34" charset="0"/>
                <a:cs typeface="Arial"/>
              </a:rPr>
              <a:t> </a:t>
            </a:r>
            <a:r>
              <a:rPr b="1" spc="5" dirty="0">
                <a:latin typeface="Bahnschrift" panose="020B0502040204020203" pitchFamily="34" charset="0"/>
                <a:cs typeface="Arial"/>
              </a:rPr>
              <a:t>will</a:t>
            </a:r>
            <a:r>
              <a:rPr b="1" spc="-60" dirty="0">
                <a:latin typeface="Bahnschrift" panose="020B0502040204020203" pitchFamily="34" charset="0"/>
                <a:cs typeface="Arial"/>
              </a:rPr>
              <a:t> </a:t>
            </a:r>
            <a:r>
              <a:rPr b="1" spc="-5" dirty="0">
                <a:latin typeface="Bahnschrift" panose="020B0502040204020203" pitchFamily="34" charset="0"/>
                <a:cs typeface="Arial"/>
              </a:rPr>
              <a:t>cover</a:t>
            </a:r>
            <a:r>
              <a:rPr b="1" dirty="0">
                <a:latin typeface="Bahnschrift" panose="020B0502040204020203" pitchFamily="34" charset="0"/>
                <a:cs typeface="Arial"/>
              </a:rPr>
              <a:t> </a:t>
            </a:r>
            <a:r>
              <a:rPr b="1" spc="-5" dirty="0">
                <a:latin typeface="Bahnschrift" panose="020B0502040204020203" pitchFamily="34" charset="0"/>
                <a:cs typeface="Arial"/>
              </a:rPr>
              <a:t>many</a:t>
            </a:r>
            <a:r>
              <a:rPr b="1" spc="-20" dirty="0">
                <a:latin typeface="Bahnschrift" panose="020B0502040204020203" pitchFamily="34" charset="0"/>
                <a:cs typeface="Arial"/>
              </a:rPr>
              <a:t> </a:t>
            </a:r>
            <a:r>
              <a:rPr b="1" dirty="0">
                <a:latin typeface="Bahnschrift" panose="020B0502040204020203" pitchFamily="34" charset="0"/>
                <a:cs typeface="Arial"/>
              </a:rPr>
              <a:t>topics</a:t>
            </a:r>
            <a:r>
              <a:rPr b="1" spc="-25" dirty="0">
                <a:latin typeface="Bahnschrift" panose="020B0502040204020203" pitchFamily="34" charset="0"/>
                <a:cs typeface="Arial"/>
              </a:rPr>
              <a:t> </a:t>
            </a:r>
            <a:r>
              <a:rPr b="1" dirty="0">
                <a:latin typeface="Bahnschrift" panose="020B0502040204020203" pitchFamily="34" charset="0"/>
                <a:cs typeface="Arial"/>
              </a:rPr>
              <a:t>in</a:t>
            </a:r>
            <a:r>
              <a:rPr b="1" spc="-25" dirty="0">
                <a:latin typeface="Bahnschrift" panose="020B0502040204020203" pitchFamily="34" charset="0"/>
                <a:cs typeface="Arial"/>
              </a:rPr>
              <a:t> </a:t>
            </a:r>
            <a:r>
              <a:rPr b="1" dirty="0">
                <a:latin typeface="Bahnschrift" panose="020B0502040204020203" pitchFamily="34" charset="0"/>
                <a:cs typeface="Arial"/>
              </a:rPr>
              <a:t>this</a:t>
            </a:r>
            <a:r>
              <a:rPr b="1" spc="-10" dirty="0">
                <a:latin typeface="Bahnschrift" panose="020B0502040204020203" pitchFamily="34" charset="0"/>
                <a:cs typeface="Arial"/>
              </a:rPr>
              <a:t> </a:t>
            </a:r>
            <a:r>
              <a:rPr b="1" dirty="0">
                <a:latin typeface="Bahnschrift" panose="020B0502040204020203" pitchFamily="34" charset="0"/>
                <a:cs typeface="Arial"/>
              </a:rPr>
              <a:t>text</a:t>
            </a:r>
            <a:endParaRPr dirty="0">
              <a:latin typeface="Bahnschrift" panose="020B0502040204020203" pitchFamily="34" charset="0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b="1" spc="-5" dirty="0">
                <a:latin typeface="Bahnschrift" panose="020B0502040204020203" pitchFamily="34" charset="0"/>
                <a:cs typeface="Arial"/>
              </a:rPr>
              <a:t>book</a:t>
            </a:r>
            <a:endParaRPr dirty="0">
              <a:latin typeface="Bahnschrift" panose="020B0502040204020203" pitchFamily="34" charset="0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Bahnschrift" panose="020B050204020402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 dirty="0">
              <a:latin typeface="Bahnschrift" panose="020B0502040204020203" pitchFamily="34" charset="0"/>
              <a:cs typeface="Arial"/>
            </a:endParaRPr>
          </a:p>
          <a:p>
            <a:pPr marL="12700" marR="5080">
              <a:lnSpc>
                <a:spcPct val="90000"/>
              </a:lnSpc>
            </a:pPr>
            <a:r>
              <a:rPr b="1" dirty="0">
                <a:latin typeface="Bahnschrift" panose="020B0502040204020203" pitchFamily="34" charset="0"/>
                <a:cs typeface="Arial"/>
              </a:rPr>
              <a:t>We</a:t>
            </a:r>
            <a:r>
              <a:rPr b="1" spc="-30" dirty="0">
                <a:latin typeface="Bahnschrift" panose="020B0502040204020203" pitchFamily="34" charset="0"/>
                <a:cs typeface="Arial"/>
              </a:rPr>
              <a:t> </a:t>
            </a:r>
            <a:r>
              <a:rPr b="1" spc="5" dirty="0">
                <a:latin typeface="Bahnschrift" panose="020B0502040204020203" pitchFamily="34" charset="0"/>
                <a:cs typeface="Arial"/>
              </a:rPr>
              <a:t>will</a:t>
            </a:r>
            <a:r>
              <a:rPr b="1" spc="-60" dirty="0">
                <a:latin typeface="Bahnschrift" panose="020B0502040204020203" pitchFamily="34" charset="0"/>
                <a:cs typeface="Arial"/>
              </a:rPr>
              <a:t> </a:t>
            </a:r>
            <a:r>
              <a:rPr b="1" spc="-5" dirty="0">
                <a:latin typeface="Bahnschrift" panose="020B0502040204020203" pitchFamily="34" charset="0"/>
                <a:cs typeface="Arial"/>
              </a:rPr>
              <a:t>also</a:t>
            </a:r>
            <a:r>
              <a:rPr b="1" spc="-25" dirty="0">
                <a:latin typeface="Bahnschrift" panose="020B0502040204020203" pitchFamily="34" charset="0"/>
                <a:cs typeface="Arial"/>
              </a:rPr>
              <a:t> </a:t>
            </a:r>
            <a:r>
              <a:rPr b="1" spc="-5" dirty="0">
                <a:latin typeface="Bahnschrift" panose="020B0502040204020203" pitchFamily="34" charset="0"/>
                <a:cs typeface="Arial"/>
              </a:rPr>
              <a:t>include special</a:t>
            </a:r>
            <a:r>
              <a:rPr b="1" spc="-35" dirty="0">
                <a:latin typeface="Bahnschrift" panose="020B0502040204020203" pitchFamily="34" charset="0"/>
                <a:cs typeface="Arial"/>
              </a:rPr>
              <a:t> </a:t>
            </a:r>
            <a:r>
              <a:rPr b="1" dirty="0">
                <a:latin typeface="Bahnschrift" panose="020B0502040204020203" pitchFamily="34" charset="0"/>
                <a:cs typeface="Arial"/>
              </a:rPr>
              <a:t>topics</a:t>
            </a:r>
            <a:r>
              <a:rPr b="1" spc="-20" dirty="0">
                <a:latin typeface="Bahnschrift" panose="020B0502040204020203" pitchFamily="34" charset="0"/>
                <a:cs typeface="Arial"/>
              </a:rPr>
              <a:t> </a:t>
            </a:r>
            <a:r>
              <a:rPr b="1" dirty="0">
                <a:latin typeface="Bahnschrift" panose="020B0502040204020203" pitchFamily="34" charset="0"/>
                <a:cs typeface="Arial"/>
              </a:rPr>
              <a:t>on </a:t>
            </a:r>
            <a:r>
              <a:rPr b="1" spc="-540" dirty="0">
                <a:latin typeface="Bahnschrift" panose="020B0502040204020203" pitchFamily="34" charset="0"/>
                <a:cs typeface="Arial"/>
              </a:rPr>
              <a:t> </a:t>
            </a:r>
            <a:r>
              <a:rPr b="1" spc="-5" dirty="0">
                <a:latin typeface="Bahnschrift" panose="020B0502040204020203" pitchFamily="34" charset="0"/>
                <a:cs typeface="Arial"/>
              </a:rPr>
              <a:t>recent </a:t>
            </a:r>
            <a:r>
              <a:rPr b="1" dirty="0">
                <a:latin typeface="Bahnschrift" panose="020B0502040204020203" pitchFamily="34" charset="0"/>
                <a:cs typeface="Arial"/>
              </a:rPr>
              <a:t>progresses on </a:t>
            </a:r>
            <a:r>
              <a:rPr b="1" spc="-5" dirty="0">
                <a:latin typeface="Bahnschrift" panose="020B0502040204020203" pitchFamily="34" charset="0"/>
                <a:cs typeface="Arial"/>
              </a:rPr>
              <a:t>image </a:t>
            </a:r>
            <a:r>
              <a:rPr b="1" dirty="0">
                <a:latin typeface="Bahnschrift" panose="020B0502040204020203" pitchFamily="34" charset="0"/>
                <a:cs typeface="Arial"/>
              </a:rPr>
              <a:t> processing</a:t>
            </a:r>
            <a:endParaRPr dirty="0">
              <a:latin typeface="Bahnschrift" panose="020B0502040204020203" pitchFamily="34" charset="0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1120" y="1676400"/>
            <a:ext cx="3829811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540" y="638302"/>
            <a:ext cx="7614919" cy="369332"/>
          </a:xfrm>
        </p:spPr>
        <p:txBody>
          <a:bodyPr/>
          <a:lstStyle/>
          <a:p>
            <a:r>
              <a:rPr lang="en-US" dirty="0"/>
              <a:t>Grading policy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28650" y="2226469"/>
          <a:ext cx="78867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US" sz="1400" dirty="0">
                        <a:latin typeface="Bahnschrift" panose="020B0502040204020203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>
                        <a:latin typeface="Bahnschrift" panose="020B0502040204020203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400" dirty="0">
                          <a:effectLst/>
                          <a:latin typeface="Bahnschrift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Internship</a:t>
                      </a:r>
                      <a:endParaRPr lang="en-GB" sz="1400" dirty="0">
                        <a:effectLst/>
                        <a:latin typeface="Bahnschrift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400" dirty="0">
                          <a:effectLst/>
                          <a:latin typeface="Bahnschrift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GB" sz="1400" dirty="0">
                        <a:effectLst/>
                        <a:latin typeface="Bahnschrift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4531698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  <a:latin typeface="Bahnschrift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Mid-term, written exam.</a:t>
                      </a:r>
                      <a:endParaRPr lang="en-GB" sz="1400" dirty="0">
                        <a:effectLst/>
                        <a:latin typeface="Bahnschrift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400">
                          <a:effectLst/>
                          <a:latin typeface="Bahnschrift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GB" sz="1400">
                        <a:effectLst/>
                        <a:latin typeface="Bahnschrift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400" dirty="0">
                          <a:effectLst/>
                          <a:latin typeface="Bahnschrift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Final, written exam</a:t>
                      </a:r>
                      <a:endParaRPr lang="en-GB" sz="1400" dirty="0">
                        <a:effectLst/>
                        <a:latin typeface="Bahnschrift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400">
                          <a:effectLst/>
                          <a:latin typeface="Bahnschrift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  <a:endParaRPr lang="en-GB" sz="1400">
                        <a:effectLst/>
                        <a:latin typeface="Bahnschrift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400">
                          <a:effectLst/>
                          <a:latin typeface="Bahnschrift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assessment</a:t>
                      </a:r>
                      <a:endParaRPr lang="en-GB" sz="1400">
                        <a:effectLst/>
                        <a:latin typeface="Bahnschrift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400" dirty="0">
                          <a:effectLst/>
                          <a:latin typeface="Bahnschrift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GB" sz="1400" dirty="0">
                        <a:effectLst/>
                        <a:latin typeface="Bahnschrift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50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540" y="638302"/>
            <a:ext cx="7614919" cy="369332"/>
          </a:xfrm>
        </p:spPr>
        <p:txBody>
          <a:bodyPr/>
          <a:lstStyle/>
          <a:p>
            <a:r>
              <a:rPr lang="en-US" dirty="0"/>
              <a:t>Mid term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243" y="2136338"/>
            <a:ext cx="7925511" cy="266746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Mid-term will be taken totally on paper.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Mid may include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Understanding of the concepts.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Exercises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Basic python codes to solve the problems.</a:t>
            </a:r>
          </a:p>
        </p:txBody>
      </p:sp>
    </p:spTree>
    <p:extLst>
      <p:ext uri="{BB962C8B-B14F-4D97-AF65-F5344CB8AC3E}">
        <p14:creationId xmlns:p14="http://schemas.microsoft.com/office/powerpoint/2010/main" val="181443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540" y="638302"/>
            <a:ext cx="7614919" cy="369332"/>
          </a:xfrm>
        </p:spPr>
        <p:txBody>
          <a:bodyPr/>
          <a:lstStyle/>
          <a:p>
            <a:r>
              <a:rPr lang="en-US" dirty="0"/>
              <a:t>Final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08BBB7-D5E5-5D0E-A8CB-81444A4FAEAA}"/>
              </a:ext>
            </a:extLst>
          </p:cNvPr>
          <p:cNvSpPr txBox="1">
            <a:spLocks/>
          </p:cNvSpPr>
          <p:nvPr/>
        </p:nvSpPr>
        <p:spPr>
          <a:xfrm>
            <a:off x="533399" y="2286000"/>
            <a:ext cx="8077200" cy="295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200" b="1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kern="0" dirty="0">
                <a:latin typeface="Bahnschrift" panose="020B0502040204020203" pitchFamily="34" charset="0"/>
              </a:rPr>
              <a:t>You may be provided with a problem that will require some algorithm to 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kern="0" dirty="0">
                <a:latin typeface="Bahnschrift" panose="020B0502040204020203" pitchFamily="34" charset="0"/>
              </a:rPr>
              <a:t>You maybe provided the before and after effects of an algorithm and will be asked the type of algorithm used in the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kern="0" dirty="0">
                <a:latin typeface="Bahnschrift" panose="020B0502040204020203" pitchFamily="34" charset="0"/>
              </a:rPr>
              <a:t>Some exercises.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kern="0" dirty="0">
                <a:latin typeface="Bahnschrift" panose="020B0502040204020203" pitchFamily="34" charset="0"/>
              </a:rPr>
              <a:t>Python source codes for some simple unseen algorithms</a:t>
            </a:r>
          </a:p>
        </p:txBody>
      </p:sp>
    </p:spTree>
    <p:extLst>
      <p:ext uri="{BB962C8B-B14F-4D97-AF65-F5344CB8AC3E}">
        <p14:creationId xmlns:p14="http://schemas.microsoft.com/office/powerpoint/2010/main" val="345652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5073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Major</a:t>
            </a:r>
            <a:r>
              <a:rPr spc="-30" dirty="0"/>
              <a:t> </a:t>
            </a:r>
            <a:r>
              <a:rPr spc="-5" dirty="0"/>
              <a:t>Topics</a:t>
            </a:r>
            <a:r>
              <a:rPr dirty="0"/>
              <a:t> Covered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748155"/>
            <a:ext cx="7922260" cy="3896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000" b="1" spc="-5" dirty="0">
                <a:latin typeface="Bahnschrift" panose="020B0502040204020203" pitchFamily="34" charset="0"/>
                <a:cs typeface="Arial"/>
              </a:rPr>
              <a:t>Image</a:t>
            </a:r>
            <a:r>
              <a:rPr sz="2000" b="1" spc="-2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acquisition</a:t>
            </a:r>
            <a:r>
              <a:rPr sz="2000" b="1" spc="-25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and</a:t>
            </a:r>
            <a:r>
              <a:rPr sz="2000" b="1" spc="5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digital</a:t>
            </a:r>
            <a:r>
              <a:rPr sz="2000" b="1" spc="-3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image</a:t>
            </a:r>
            <a:r>
              <a:rPr sz="2000" b="1" spc="-1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representation</a:t>
            </a:r>
            <a:endParaRPr sz="2000" dirty="0">
              <a:latin typeface="Bahnschrift" panose="020B0502040204020203" pitchFamily="34" charset="0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</a:pPr>
            <a:r>
              <a:rPr sz="2000" b="1" spc="-5" dirty="0">
                <a:latin typeface="Bahnschrift" panose="020B0502040204020203" pitchFamily="34" charset="0"/>
                <a:cs typeface="Arial"/>
              </a:rPr>
              <a:t>Image</a:t>
            </a:r>
            <a:r>
              <a:rPr sz="2000" b="1" spc="-45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enhancement</a:t>
            </a:r>
            <a:endParaRPr sz="2000" dirty="0">
              <a:latin typeface="Bahnschrift" panose="020B0502040204020203" pitchFamily="34" charset="0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</a:pPr>
            <a:r>
              <a:rPr sz="2000" b="1" spc="-5" dirty="0">
                <a:latin typeface="Bahnschrift" panose="020B0502040204020203" pitchFamily="34" charset="0"/>
                <a:cs typeface="Arial"/>
              </a:rPr>
              <a:t>Image</a:t>
            </a:r>
            <a:r>
              <a:rPr sz="2000" b="1" spc="-4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restoration</a:t>
            </a:r>
            <a:endParaRPr sz="2000" dirty="0">
              <a:latin typeface="Bahnschrift" panose="020B0502040204020203" pitchFamily="34" charset="0"/>
              <a:cs typeface="Arial"/>
            </a:endParaRPr>
          </a:p>
          <a:p>
            <a:pPr marL="355600" marR="3469640" indent="-342900">
              <a:lnSpc>
                <a:spcPct val="165100"/>
              </a:lnSpc>
              <a:buFont typeface="Arial" panose="020B0604020202020204" pitchFamily="34" charset="0"/>
              <a:buChar char="•"/>
            </a:pPr>
            <a:r>
              <a:rPr sz="2000" b="1" dirty="0">
                <a:latin typeface="Bahnschrift" panose="020B0502040204020203" pitchFamily="34" charset="0"/>
                <a:cs typeface="Arial"/>
              </a:rPr>
              <a:t>Color</a:t>
            </a:r>
            <a:r>
              <a:rPr sz="2000" b="1" spc="-45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image</a:t>
            </a:r>
            <a:r>
              <a:rPr sz="2000" b="1" spc="-35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processing </a:t>
            </a:r>
            <a:r>
              <a:rPr sz="2000" b="1" spc="-545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Image</a:t>
            </a:r>
            <a:endParaRPr lang="en-US" sz="2000" b="1" spc="-5" dirty="0">
              <a:latin typeface="Bahnschrift" panose="020B0502040204020203" pitchFamily="34" charset="0"/>
              <a:cs typeface="Arial"/>
            </a:endParaRPr>
          </a:p>
          <a:p>
            <a:pPr marL="355600" marR="3469640" indent="-342900">
              <a:lnSpc>
                <a:spcPct val="165100"/>
              </a:lnSpc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Bahnschrift" panose="020B0502040204020203" pitchFamily="34" charset="0"/>
                <a:cs typeface="Arial"/>
              </a:rPr>
              <a:t>C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ompression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Image</a:t>
            </a:r>
            <a:r>
              <a:rPr sz="2000" b="1" spc="-20" dirty="0">
                <a:latin typeface="Bahnschrift" panose="020B0502040204020203" pitchFamily="34" charset="0"/>
                <a:cs typeface="Arial"/>
              </a:rPr>
              <a:t> </a:t>
            </a:r>
            <a:endParaRPr lang="en-US" sz="2000" b="1" spc="-20" dirty="0">
              <a:latin typeface="Bahnschrift" panose="020B0502040204020203" pitchFamily="34" charset="0"/>
              <a:cs typeface="Arial"/>
            </a:endParaRPr>
          </a:p>
          <a:p>
            <a:pPr marL="355600" marR="3469640" indent="-342900">
              <a:lnSpc>
                <a:spcPct val="165100"/>
              </a:lnSpc>
              <a:buFont typeface="Arial" panose="020B0604020202020204" pitchFamily="34" charset="0"/>
              <a:buChar char="•"/>
            </a:pPr>
            <a:r>
              <a:rPr lang="en-US" sz="2000" b="1" spc="-5" dirty="0">
                <a:latin typeface="Bahnschrift" panose="020B0502040204020203" pitchFamily="34" charset="0"/>
                <a:cs typeface="Arial"/>
              </a:rPr>
              <a:t>S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egmentation</a:t>
            </a:r>
            <a:endParaRPr sz="2000" dirty="0">
              <a:latin typeface="Bahnschrift" panose="020B0502040204020203" pitchFamily="34" charset="0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55"/>
              </a:spcBef>
              <a:buFont typeface="Arial" panose="020B0604020202020204" pitchFamily="34" charset="0"/>
              <a:buChar char="•"/>
            </a:pPr>
            <a:r>
              <a:rPr sz="2000" b="1" dirty="0">
                <a:latin typeface="Bahnschrift" panose="020B0502040204020203" pitchFamily="34" charset="0"/>
                <a:cs typeface="Arial"/>
              </a:rPr>
              <a:t>Morphological</a:t>
            </a:r>
            <a:r>
              <a:rPr sz="2000" b="1" spc="-5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image</a:t>
            </a:r>
            <a:r>
              <a:rPr sz="2000" b="1" spc="-3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processing</a:t>
            </a:r>
            <a:endParaRPr sz="2000" dirty="0">
              <a:latin typeface="Bahnschrift" panose="020B0502040204020203" pitchFamily="34" charset="0"/>
              <a:cs typeface="Arial"/>
            </a:endParaRPr>
          </a:p>
          <a:p>
            <a:pPr marL="355600" marR="5080" indent="-342900">
              <a:lnSpc>
                <a:spcPts val="2160"/>
              </a:lnSpc>
              <a:spcBef>
                <a:spcPts val="1835"/>
              </a:spcBef>
              <a:buFont typeface="Arial" panose="020B0604020202020204" pitchFamily="34" charset="0"/>
              <a:buChar char="•"/>
            </a:pPr>
            <a:r>
              <a:rPr sz="2000" b="1" spc="-5" dirty="0">
                <a:latin typeface="Bahnschrift" panose="020B0502040204020203" pitchFamily="34" charset="0"/>
                <a:cs typeface="Arial"/>
              </a:rPr>
              <a:t>Special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topics on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recent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progresses on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digital image </a:t>
            </a:r>
            <a:r>
              <a:rPr sz="2000" b="1" spc="-55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processing</a:t>
            </a:r>
            <a:endParaRPr sz="2000" dirty="0">
              <a:latin typeface="Bahnschrift" panose="020B0502040204020203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6314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Human</a:t>
            </a:r>
            <a:r>
              <a:rPr spc="-25" dirty="0"/>
              <a:t> </a:t>
            </a:r>
            <a:r>
              <a:rPr spc="-5" dirty="0"/>
              <a:t>Perception</a:t>
            </a:r>
            <a:r>
              <a:rPr spc="5" dirty="0"/>
              <a:t> </a:t>
            </a:r>
            <a:r>
              <a:rPr dirty="0"/>
              <a:t>VS</a:t>
            </a:r>
            <a:r>
              <a:rPr spc="-20" dirty="0"/>
              <a:t> </a:t>
            </a:r>
            <a:r>
              <a:rPr dirty="0"/>
              <a:t>Machine</a:t>
            </a:r>
            <a:r>
              <a:rPr spc="-15" dirty="0"/>
              <a:t> </a:t>
            </a:r>
            <a:r>
              <a:rPr dirty="0"/>
              <a:t>Vision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2438400"/>
            <a:ext cx="5980938" cy="38572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12594" y="6433515"/>
            <a:ext cx="37458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imes New Roman"/>
                <a:cs typeface="Times New Roman"/>
                <a:hlinkClick r:id="rId4"/>
              </a:rPr>
              <a:t>http://www.kollewin.com/blog/electromagnetic-spectrum/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400" y="1759599"/>
            <a:ext cx="696899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Bahnschrift" panose="020B0502040204020203" pitchFamily="34" charset="0"/>
                <a:cs typeface="Times New Roman"/>
              </a:rPr>
              <a:t>Limited</a:t>
            </a:r>
            <a:r>
              <a:rPr sz="2400" b="1" spc="-35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400" b="1" dirty="0">
                <a:latin typeface="Bahnschrift" panose="020B0502040204020203" pitchFamily="34" charset="0"/>
                <a:cs typeface="Times New Roman"/>
              </a:rPr>
              <a:t>vs</a:t>
            </a:r>
            <a:r>
              <a:rPr sz="2400" b="1" spc="-10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400" b="1" spc="-5" dirty="0">
                <a:latin typeface="Bahnschrift" panose="020B0502040204020203" pitchFamily="34" charset="0"/>
                <a:cs typeface="Times New Roman"/>
              </a:rPr>
              <a:t>entire</a:t>
            </a:r>
            <a:r>
              <a:rPr sz="2400" b="1" spc="-15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400" b="1" spc="-5" dirty="0">
                <a:latin typeface="Bahnschrift" panose="020B0502040204020203" pitchFamily="34" charset="0"/>
                <a:cs typeface="Times New Roman"/>
              </a:rPr>
              <a:t>EM</a:t>
            </a:r>
            <a:r>
              <a:rPr sz="2400" b="1" spc="-15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400" b="1" spc="-5" dirty="0">
                <a:latin typeface="Bahnschrift" panose="020B0502040204020203" pitchFamily="34" charset="0"/>
                <a:cs typeface="Times New Roman"/>
              </a:rPr>
              <a:t>spectrum</a:t>
            </a:r>
            <a:endParaRPr sz="2400" dirty="0">
              <a:latin typeface="Bahnschrift" panose="020B0502040204020203" pitchFamily="34" charset="0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7109"/>
            <a:ext cx="6047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Image</a:t>
            </a:r>
            <a:r>
              <a:rPr spc="-10" dirty="0"/>
              <a:t> </a:t>
            </a:r>
            <a:r>
              <a:rPr spc="-5" dirty="0"/>
              <a:t>Processing</a:t>
            </a:r>
            <a:r>
              <a:rPr spc="-25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75" dirty="0">
                <a:latin typeface="Times New Roman"/>
                <a:cs typeface="Times New Roman"/>
              </a:rPr>
              <a:t> </a:t>
            </a:r>
            <a:r>
              <a:rPr spc="-5" dirty="0"/>
              <a:t>Image</a:t>
            </a:r>
            <a:r>
              <a:rPr spc="-15" dirty="0"/>
              <a:t> </a:t>
            </a:r>
            <a:r>
              <a:rPr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3822" y="1745945"/>
            <a:ext cx="2778125" cy="2343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Bahnschrift" panose="020B0502040204020203" pitchFamily="34" charset="0"/>
                <a:cs typeface="Arial"/>
              </a:rPr>
              <a:t>Image</a:t>
            </a:r>
            <a:r>
              <a:rPr sz="2000" b="1" spc="-45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acquisition</a:t>
            </a:r>
            <a:endParaRPr sz="2000">
              <a:latin typeface="Bahnschrift" panose="020B0502040204020203" pitchFamily="34" charset="0"/>
              <a:cs typeface="Arial"/>
            </a:endParaRPr>
          </a:p>
          <a:p>
            <a:pPr marL="12700" marR="5080">
              <a:lnSpc>
                <a:spcPct val="165000"/>
              </a:lnSpc>
              <a:spcBef>
                <a:spcPts val="5"/>
              </a:spcBef>
              <a:tabLst>
                <a:tab pos="2557145" algn="l"/>
                <a:tab pos="2764790" algn="l"/>
              </a:tabLst>
            </a:pPr>
            <a:r>
              <a:rPr sz="2000" b="1" spc="-5" dirty="0">
                <a:latin typeface="Bahnschrift" panose="020B0502040204020203" pitchFamily="34" charset="0"/>
                <a:cs typeface="Arial"/>
              </a:rPr>
              <a:t>Image enhancement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Image compression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Image segmentation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 Object</a:t>
            </a:r>
            <a:r>
              <a:rPr sz="2000" b="1" spc="-9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Arial"/>
              </a:rPr>
              <a:t>recognition	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Bahnschrift" panose="020B0502040204020203" pitchFamily="34" charset="0"/>
                <a:cs typeface="Arial"/>
              </a:rPr>
              <a:t> 	</a:t>
            </a:r>
            <a:endParaRPr sz="2000">
              <a:latin typeface="Bahnschrift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3822" y="4261180"/>
            <a:ext cx="2612390" cy="835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Bahnschrift" panose="020B0502040204020203" pitchFamily="34" charset="0"/>
                <a:cs typeface="Arial"/>
              </a:rPr>
              <a:t>Scene</a:t>
            </a:r>
            <a:r>
              <a:rPr sz="2000" b="1" spc="-60" dirty="0">
                <a:latin typeface="Bahnschrift" panose="020B0502040204020203" pitchFamily="34" charset="0"/>
                <a:cs typeface="Arial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Arial"/>
              </a:rPr>
              <a:t>understanding</a:t>
            </a:r>
            <a:endParaRPr sz="2000">
              <a:latin typeface="Bahnschrift" panose="020B0502040204020203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2000" b="1" spc="-5" dirty="0">
                <a:latin typeface="Bahnschrift" panose="020B0502040204020203" pitchFamily="34" charset="0"/>
                <a:cs typeface="Arial"/>
              </a:rPr>
              <a:t>Semantics</a:t>
            </a:r>
            <a:endParaRPr sz="2000">
              <a:latin typeface="Bahnschrift" panose="020B0502040204020203" pitchFamily="34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2232786"/>
            <a:ext cx="127127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Bahnschrift" panose="020B0502040204020203" pitchFamily="34" charset="0"/>
                <a:cs typeface="Times New Roman"/>
              </a:rPr>
              <a:t>Low</a:t>
            </a:r>
            <a:r>
              <a:rPr sz="2400" b="1" spc="-85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400" b="1" dirty="0">
                <a:latin typeface="Bahnschrift" panose="020B0502040204020203" pitchFamily="34" charset="0"/>
                <a:cs typeface="Times New Roman"/>
              </a:rPr>
              <a:t>level</a:t>
            </a:r>
            <a:endParaRPr sz="2400">
              <a:latin typeface="Bahnschrift" panose="020B0502040204020203" pitchFamily="34" charset="0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8191" y="3452241"/>
            <a:ext cx="1236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Bahnschrift" panose="020B0502040204020203" pitchFamily="34" charset="0"/>
                <a:cs typeface="Times New Roman"/>
              </a:rPr>
              <a:t>Mid</a:t>
            </a:r>
            <a:r>
              <a:rPr sz="2400" b="1" spc="-100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400" b="1" dirty="0">
                <a:latin typeface="Bahnschrift" panose="020B0502040204020203" pitchFamily="34" charset="0"/>
                <a:cs typeface="Times New Roman"/>
              </a:rPr>
              <a:t>level</a:t>
            </a:r>
            <a:endParaRPr sz="2400" dirty="0">
              <a:latin typeface="Bahnschrift" panose="020B0502040204020203" pitchFamily="34" charset="0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8191" y="4517897"/>
            <a:ext cx="133794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Bahnschrift" panose="020B0502040204020203" pitchFamily="34" charset="0"/>
                <a:cs typeface="Times New Roman"/>
              </a:rPr>
              <a:t>High</a:t>
            </a:r>
            <a:r>
              <a:rPr sz="2400" b="1" spc="-95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400" b="1" dirty="0">
                <a:latin typeface="Bahnschrift" panose="020B0502040204020203" pitchFamily="34" charset="0"/>
                <a:cs typeface="Times New Roman"/>
              </a:rPr>
              <a:t>level</a:t>
            </a:r>
            <a:endParaRPr sz="2400">
              <a:latin typeface="Bahnschrift" panose="020B0502040204020203" pitchFamily="34" charset="0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48877" y="1824037"/>
            <a:ext cx="314325" cy="3286125"/>
            <a:chOff x="2448877" y="1824037"/>
            <a:chExt cx="314325" cy="32861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3639" y="1828800"/>
              <a:ext cx="304800" cy="32766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53639" y="1828800"/>
              <a:ext cx="304800" cy="3276600"/>
            </a:xfrm>
            <a:custGeom>
              <a:avLst/>
              <a:gdLst/>
              <a:ahLst/>
              <a:cxnLst/>
              <a:rect l="l" t="t" r="r" b="b"/>
              <a:pathLst>
                <a:path w="304800" h="3276600">
                  <a:moveTo>
                    <a:pt x="0" y="3124200"/>
                  </a:moveTo>
                  <a:lnTo>
                    <a:pt x="76200" y="312420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3124200"/>
                  </a:lnTo>
                  <a:lnTo>
                    <a:pt x="304800" y="3124200"/>
                  </a:lnTo>
                  <a:lnTo>
                    <a:pt x="152400" y="3276600"/>
                  </a:lnTo>
                  <a:lnTo>
                    <a:pt x="0" y="3124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Bahnschrift" panose="020B0502040204020203" pitchFamily="34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25032" y="2475738"/>
            <a:ext cx="228028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Bahnschrift" panose="020B0502040204020203" pitchFamily="34" charset="0"/>
                <a:cs typeface="Times New Roman"/>
              </a:rPr>
              <a:t>Image</a:t>
            </a:r>
            <a:r>
              <a:rPr sz="2400" b="1" spc="-80" dirty="0">
                <a:solidFill>
                  <a:srgbClr val="FF0000"/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Bahnschrift" panose="020B0502040204020203" pitchFamily="34" charset="0"/>
                <a:cs typeface="Times New Roman"/>
              </a:rPr>
              <a:t>processing</a:t>
            </a:r>
            <a:endParaRPr sz="2400">
              <a:latin typeface="Bahnschrift" panose="020B0502040204020203" pitchFamily="34" charset="0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83553" y="4060012"/>
            <a:ext cx="2713990" cy="130420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0"/>
              </a:spcBef>
            </a:pPr>
            <a:r>
              <a:rPr sz="2400" b="1" spc="-5" dirty="0">
                <a:latin typeface="Bahnschrift" panose="020B0502040204020203" pitchFamily="34" charset="0"/>
                <a:cs typeface="Times New Roman"/>
              </a:rPr>
              <a:t>Image </a:t>
            </a:r>
            <a:r>
              <a:rPr sz="2400" b="1" dirty="0">
                <a:latin typeface="Bahnschrift" panose="020B0502040204020203" pitchFamily="34" charset="0"/>
                <a:cs typeface="Times New Roman"/>
              </a:rPr>
              <a:t>analysis </a:t>
            </a:r>
            <a:r>
              <a:rPr sz="2400" b="1" spc="5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Times New Roman"/>
              </a:rPr>
              <a:t>(Computer vision, </a:t>
            </a:r>
            <a:r>
              <a:rPr sz="2000" b="1" spc="5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Times New Roman"/>
              </a:rPr>
              <a:t>Pattern</a:t>
            </a:r>
            <a:r>
              <a:rPr sz="2000" b="1" spc="-65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000" b="1" spc="-5" dirty="0">
                <a:latin typeface="Bahnschrift" panose="020B0502040204020203" pitchFamily="34" charset="0"/>
                <a:cs typeface="Times New Roman"/>
              </a:rPr>
              <a:t>recognition,</a:t>
            </a:r>
            <a:r>
              <a:rPr sz="2000" b="1" spc="-60" dirty="0">
                <a:latin typeface="Bahnschrift" panose="020B0502040204020203" pitchFamily="34" charset="0"/>
                <a:cs typeface="Times New Roman"/>
              </a:rPr>
              <a:t> </a:t>
            </a:r>
            <a:r>
              <a:rPr sz="2000" b="1" dirty="0">
                <a:latin typeface="Bahnschrift" panose="020B0502040204020203" pitchFamily="34" charset="0"/>
                <a:cs typeface="Times New Roman"/>
              </a:rPr>
              <a:t>etc.)</a:t>
            </a:r>
            <a:endParaRPr sz="2000">
              <a:latin typeface="Bahnschrift" panose="020B0502040204020203" pitchFamily="34" charset="0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03747" y="3441191"/>
            <a:ext cx="304800" cy="1675130"/>
          </a:xfrm>
          <a:custGeom>
            <a:avLst/>
            <a:gdLst/>
            <a:ahLst/>
            <a:cxnLst/>
            <a:rect l="l" t="t" r="r" b="b"/>
            <a:pathLst>
              <a:path w="304800" h="1675129">
                <a:moveTo>
                  <a:pt x="0" y="0"/>
                </a:moveTo>
                <a:lnTo>
                  <a:pt x="59334" y="1986"/>
                </a:lnTo>
                <a:lnTo>
                  <a:pt x="107775" y="7413"/>
                </a:lnTo>
                <a:lnTo>
                  <a:pt x="140428" y="15484"/>
                </a:lnTo>
                <a:lnTo>
                  <a:pt x="152400" y="25400"/>
                </a:lnTo>
                <a:lnTo>
                  <a:pt x="152400" y="812038"/>
                </a:lnTo>
                <a:lnTo>
                  <a:pt x="164371" y="821953"/>
                </a:lnTo>
                <a:lnTo>
                  <a:pt x="197024" y="830024"/>
                </a:lnTo>
                <a:lnTo>
                  <a:pt x="245465" y="835451"/>
                </a:lnTo>
                <a:lnTo>
                  <a:pt x="304800" y="837438"/>
                </a:lnTo>
                <a:lnTo>
                  <a:pt x="245465" y="839424"/>
                </a:lnTo>
                <a:lnTo>
                  <a:pt x="197024" y="844851"/>
                </a:lnTo>
                <a:lnTo>
                  <a:pt x="164371" y="852922"/>
                </a:lnTo>
                <a:lnTo>
                  <a:pt x="152400" y="862838"/>
                </a:lnTo>
                <a:lnTo>
                  <a:pt x="152400" y="1649476"/>
                </a:lnTo>
                <a:lnTo>
                  <a:pt x="140428" y="1659391"/>
                </a:lnTo>
                <a:lnTo>
                  <a:pt x="107775" y="1667462"/>
                </a:lnTo>
                <a:lnTo>
                  <a:pt x="59334" y="1672889"/>
                </a:lnTo>
                <a:lnTo>
                  <a:pt x="0" y="167487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641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Image</a:t>
            </a:r>
            <a:r>
              <a:rPr spc="-20" dirty="0"/>
              <a:t> </a:t>
            </a:r>
            <a:r>
              <a:rPr dirty="0"/>
              <a:t>Acquisition</a:t>
            </a:r>
            <a:r>
              <a:rPr spc="-30" dirty="0"/>
              <a:t> </a:t>
            </a:r>
            <a:r>
              <a:rPr spc="-5" dirty="0"/>
              <a:t>and</a:t>
            </a:r>
            <a:r>
              <a:rPr spc="-35" dirty="0"/>
              <a:t> </a:t>
            </a:r>
            <a:r>
              <a:rPr dirty="0"/>
              <a:t>Representation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7804" y="1797522"/>
            <a:ext cx="6288505" cy="43874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16503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</a:t>
            </a:r>
            <a:r>
              <a:rPr spc="-10" dirty="0"/>
              <a:t>a</a:t>
            </a:r>
            <a:r>
              <a:rPr dirty="0"/>
              <a:t>mples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1752600"/>
            <a:ext cx="2095500" cy="21046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6843" y="3884167"/>
            <a:ext cx="1339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1.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Brain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MRI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9956" y="6426200"/>
            <a:ext cx="1855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165100" algn="l"/>
              </a:tabLst>
            </a:pPr>
            <a:r>
              <a:rPr sz="1200" b="1" spc="-5" dirty="0">
                <a:latin typeface="Times New Roman"/>
                <a:cs typeface="Times New Roman"/>
                <a:hlinkClick r:id="rId4"/>
              </a:rPr>
              <a:t>http://emap-int.com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 startAt="4"/>
              <a:tabLst>
                <a:tab pos="165100" algn="l"/>
              </a:tabLst>
            </a:pPr>
            <a:r>
              <a:rPr sz="1200" b="1" spc="-5" dirty="0">
                <a:latin typeface="Times New Roman"/>
                <a:cs typeface="Times New Roman"/>
                <a:hlinkClick r:id="rId5"/>
              </a:rPr>
              <a:t>http://www.imaging1.com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95600" y="1752600"/>
            <a:ext cx="2121407" cy="21046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40151" y="3884167"/>
            <a:ext cx="141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2.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Cardiac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CT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57800" y="1761744"/>
            <a:ext cx="3163824" cy="2095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854953" y="3884167"/>
            <a:ext cx="1948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3.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Fetus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Ultrasound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8848" y="4309871"/>
            <a:ext cx="2253996" cy="17053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34618" y="6054648"/>
            <a:ext cx="16821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4.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Satellite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image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24200" y="4320540"/>
            <a:ext cx="2286000" cy="170688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775075" y="5908802"/>
            <a:ext cx="2308225" cy="90868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800" b="1" dirty="0">
                <a:latin typeface="Times New Roman"/>
                <a:cs typeface="Times New Roman"/>
              </a:rPr>
              <a:t>5.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IR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image</a:t>
            </a:r>
            <a:endParaRPr sz="18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770"/>
              </a:spcBef>
            </a:pPr>
            <a:r>
              <a:rPr sz="1200" b="1" dirty="0">
                <a:latin typeface="Times New Roman"/>
                <a:cs typeface="Times New Roman"/>
              </a:rPr>
              <a:t>1 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3. </a:t>
            </a:r>
            <a:r>
              <a:rPr sz="1200" b="1" spc="-5" dirty="0">
                <a:latin typeface="Times New Roman"/>
                <a:cs typeface="Times New Roman"/>
                <a:hlinkClick r:id="rId10"/>
              </a:rPr>
              <a:t>http://en.wikipedia.org</a:t>
            </a:r>
            <a:endParaRPr sz="12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2.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  <a:hlinkClick r:id="rId11"/>
              </a:rPr>
              <a:t>http://radiology.rsna.org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304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Image</a:t>
            </a:r>
            <a:r>
              <a:rPr spc="-70" dirty="0"/>
              <a:t> </a:t>
            </a:r>
            <a:r>
              <a:rPr dirty="0"/>
              <a:t>Acquisition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748155"/>
            <a:ext cx="76981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Arial"/>
                <a:cs typeface="Arial"/>
              </a:rPr>
              <a:t>Camera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+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Scanner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Arial"/>
                <a:cs typeface="Arial"/>
              </a:rPr>
              <a:t>Digital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Camera: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Get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images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into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computer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042" y="2405381"/>
            <a:ext cx="2091363" cy="15230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6843" y="4254830"/>
            <a:ext cx="1934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0480" algn="l"/>
              </a:tabLst>
            </a:pPr>
            <a:r>
              <a:rPr sz="1600" spc="-5" dirty="0">
                <a:latin typeface="Arial MT"/>
                <a:cs typeface="Arial MT"/>
              </a:rPr>
              <a:t>l</a:t>
            </a:r>
            <a:r>
              <a:rPr sz="1600" spc="-10" dirty="0">
                <a:latin typeface="Arial MT"/>
                <a:cs typeface="Arial MT"/>
              </a:rPr>
              <a:t>en</a:t>
            </a:r>
            <a:r>
              <a:rPr sz="1600" spc="-5" dirty="0">
                <a:latin typeface="Arial MT"/>
                <a:cs typeface="Arial MT"/>
              </a:rPr>
              <a:t>s</a:t>
            </a:r>
            <a:r>
              <a:rPr sz="1600" spc="-29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ape</a:t>
            </a:r>
            <a:r>
              <a:rPr sz="1600" spc="-15" dirty="0">
                <a:latin typeface="Arial MT"/>
                <a:cs typeface="Arial MT"/>
              </a:rPr>
              <a:t>r</a:t>
            </a:r>
            <a:r>
              <a:rPr sz="1600" spc="-5" dirty="0">
                <a:latin typeface="Arial MT"/>
                <a:cs typeface="Arial MT"/>
              </a:rPr>
              <a:t>tu</a:t>
            </a:r>
            <a:r>
              <a:rPr sz="1600" spc="-10" dirty="0">
                <a:latin typeface="Arial MT"/>
                <a:cs typeface="Arial MT"/>
              </a:rPr>
              <a:t>r</a:t>
            </a:r>
            <a:r>
              <a:rPr sz="1600" spc="-5" dirty="0">
                <a:latin typeface="Arial MT"/>
                <a:cs typeface="Arial MT"/>
              </a:rPr>
              <a:t>e</a:t>
            </a:r>
            <a:r>
              <a:rPr sz="1600" dirty="0">
                <a:latin typeface="Arial MT"/>
                <a:cs typeface="Arial MT"/>
              </a:rPr>
              <a:t>	</a:t>
            </a:r>
            <a:r>
              <a:rPr sz="1600" spc="-5" dirty="0">
                <a:latin typeface="Arial MT"/>
                <a:cs typeface="Arial MT"/>
              </a:rPr>
              <a:t>s</a:t>
            </a:r>
            <a:r>
              <a:rPr sz="1600" spc="-10" dirty="0">
                <a:latin typeface="Arial MT"/>
                <a:cs typeface="Arial MT"/>
              </a:rPr>
              <a:t>hutter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2117" y="4254830"/>
            <a:ext cx="3422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film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78721" y="4524070"/>
            <a:ext cx="1754898" cy="2233929"/>
            <a:chOff x="864108" y="3301746"/>
            <a:chExt cx="2771140" cy="3355340"/>
          </a:xfrm>
        </p:grpSpPr>
        <p:sp>
          <p:nvSpPr>
            <p:cNvPr id="8" name="object 8"/>
            <p:cNvSpPr/>
            <p:nvPr/>
          </p:nvSpPr>
          <p:spPr>
            <a:xfrm>
              <a:off x="1203198" y="3301745"/>
              <a:ext cx="2235835" cy="944880"/>
            </a:xfrm>
            <a:custGeom>
              <a:avLst/>
              <a:gdLst/>
              <a:ahLst/>
              <a:cxnLst/>
              <a:rect l="l" t="t" r="r" b="b"/>
              <a:pathLst>
                <a:path w="2235835" h="944879">
                  <a:moveTo>
                    <a:pt x="76200" y="326136"/>
                  </a:moveTo>
                  <a:lnTo>
                    <a:pt x="73202" y="311289"/>
                  </a:lnTo>
                  <a:lnTo>
                    <a:pt x="65036" y="299186"/>
                  </a:lnTo>
                  <a:lnTo>
                    <a:pt x="52920" y="291033"/>
                  </a:lnTo>
                  <a:lnTo>
                    <a:pt x="38100" y="288048"/>
                  </a:lnTo>
                  <a:lnTo>
                    <a:pt x="23266" y="291033"/>
                  </a:lnTo>
                  <a:lnTo>
                    <a:pt x="11150" y="299186"/>
                  </a:lnTo>
                  <a:lnTo>
                    <a:pt x="2984" y="311289"/>
                  </a:lnTo>
                  <a:lnTo>
                    <a:pt x="0" y="326136"/>
                  </a:lnTo>
                  <a:lnTo>
                    <a:pt x="2984" y="340995"/>
                  </a:lnTo>
                  <a:lnTo>
                    <a:pt x="11150" y="353098"/>
                  </a:lnTo>
                  <a:lnTo>
                    <a:pt x="23266" y="361251"/>
                  </a:lnTo>
                  <a:lnTo>
                    <a:pt x="28575" y="362318"/>
                  </a:lnTo>
                  <a:lnTo>
                    <a:pt x="28575" y="944880"/>
                  </a:lnTo>
                  <a:lnTo>
                    <a:pt x="47625" y="944880"/>
                  </a:lnTo>
                  <a:lnTo>
                    <a:pt x="47625" y="364236"/>
                  </a:lnTo>
                  <a:lnTo>
                    <a:pt x="47625" y="362318"/>
                  </a:lnTo>
                  <a:lnTo>
                    <a:pt x="52920" y="361251"/>
                  </a:lnTo>
                  <a:lnTo>
                    <a:pt x="65036" y="353098"/>
                  </a:lnTo>
                  <a:lnTo>
                    <a:pt x="73202" y="340995"/>
                  </a:lnTo>
                  <a:lnTo>
                    <a:pt x="76200" y="326136"/>
                  </a:lnTo>
                  <a:close/>
                </a:path>
                <a:path w="2235835" h="944879">
                  <a:moveTo>
                    <a:pt x="675132" y="38100"/>
                  </a:moveTo>
                  <a:lnTo>
                    <a:pt x="672134" y="23253"/>
                  </a:lnTo>
                  <a:lnTo>
                    <a:pt x="663981" y="11150"/>
                  </a:lnTo>
                  <a:lnTo>
                    <a:pt x="651878" y="2997"/>
                  </a:lnTo>
                  <a:lnTo>
                    <a:pt x="637032" y="0"/>
                  </a:lnTo>
                  <a:lnTo>
                    <a:pt x="622173" y="2997"/>
                  </a:lnTo>
                  <a:lnTo>
                    <a:pt x="610069" y="11150"/>
                  </a:lnTo>
                  <a:lnTo>
                    <a:pt x="601916" y="23253"/>
                  </a:lnTo>
                  <a:lnTo>
                    <a:pt x="598932" y="38100"/>
                  </a:lnTo>
                  <a:lnTo>
                    <a:pt x="601916" y="52959"/>
                  </a:lnTo>
                  <a:lnTo>
                    <a:pt x="610069" y="65062"/>
                  </a:lnTo>
                  <a:lnTo>
                    <a:pt x="622173" y="73215"/>
                  </a:lnTo>
                  <a:lnTo>
                    <a:pt x="627507" y="74295"/>
                  </a:lnTo>
                  <a:lnTo>
                    <a:pt x="627507" y="944880"/>
                  </a:lnTo>
                  <a:lnTo>
                    <a:pt x="646557" y="944880"/>
                  </a:lnTo>
                  <a:lnTo>
                    <a:pt x="646557" y="76200"/>
                  </a:lnTo>
                  <a:lnTo>
                    <a:pt x="646557" y="74295"/>
                  </a:lnTo>
                  <a:lnTo>
                    <a:pt x="637032" y="76200"/>
                  </a:lnTo>
                  <a:lnTo>
                    <a:pt x="646544" y="74295"/>
                  </a:lnTo>
                  <a:lnTo>
                    <a:pt x="646557" y="38100"/>
                  </a:lnTo>
                  <a:lnTo>
                    <a:pt x="646557" y="74295"/>
                  </a:lnTo>
                  <a:lnTo>
                    <a:pt x="651878" y="73215"/>
                  </a:lnTo>
                  <a:lnTo>
                    <a:pt x="663981" y="65062"/>
                  </a:lnTo>
                  <a:lnTo>
                    <a:pt x="672134" y="52959"/>
                  </a:lnTo>
                  <a:lnTo>
                    <a:pt x="675132" y="38100"/>
                  </a:lnTo>
                  <a:close/>
                </a:path>
                <a:path w="2235835" h="944879">
                  <a:moveTo>
                    <a:pt x="1473708" y="285000"/>
                  </a:moveTo>
                  <a:lnTo>
                    <a:pt x="1470710" y="270141"/>
                  </a:lnTo>
                  <a:lnTo>
                    <a:pt x="1462557" y="258038"/>
                  </a:lnTo>
                  <a:lnTo>
                    <a:pt x="1450454" y="249885"/>
                  </a:lnTo>
                  <a:lnTo>
                    <a:pt x="1435608" y="246900"/>
                  </a:lnTo>
                  <a:lnTo>
                    <a:pt x="1420749" y="249885"/>
                  </a:lnTo>
                  <a:lnTo>
                    <a:pt x="1408645" y="258038"/>
                  </a:lnTo>
                  <a:lnTo>
                    <a:pt x="1400492" y="270141"/>
                  </a:lnTo>
                  <a:lnTo>
                    <a:pt x="1397508" y="285000"/>
                  </a:lnTo>
                  <a:lnTo>
                    <a:pt x="1400492" y="299847"/>
                  </a:lnTo>
                  <a:lnTo>
                    <a:pt x="1408645" y="311950"/>
                  </a:lnTo>
                  <a:lnTo>
                    <a:pt x="1420749" y="320103"/>
                  </a:lnTo>
                  <a:lnTo>
                    <a:pt x="1426083" y="321183"/>
                  </a:lnTo>
                  <a:lnTo>
                    <a:pt x="1426083" y="944880"/>
                  </a:lnTo>
                  <a:lnTo>
                    <a:pt x="1445133" y="944880"/>
                  </a:lnTo>
                  <a:lnTo>
                    <a:pt x="1445133" y="323088"/>
                  </a:lnTo>
                  <a:lnTo>
                    <a:pt x="1445133" y="321183"/>
                  </a:lnTo>
                  <a:lnTo>
                    <a:pt x="1450454" y="320103"/>
                  </a:lnTo>
                  <a:lnTo>
                    <a:pt x="1462557" y="311950"/>
                  </a:lnTo>
                  <a:lnTo>
                    <a:pt x="1470710" y="299847"/>
                  </a:lnTo>
                  <a:lnTo>
                    <a:pt x="1473708" y="285000"/>
                  </a:lnTo>
                  <a:close/>
                </a:path>
                <a:path w="2235835" h="944879">
                  <a:moveTo>
                    <a:pt x="2235708" y="285000"/>
                  </a:moveTo>
                  <a:lnTo>
                    <a:pt x="2232710" y="270141"/>
                  </a:lnTo>
                  <a:lnTo>
                    <a:pt x="2224557" y="258038"/>
                  </a:lnTo>
                  <a:lnTo>
                    <a:pt x="2212454" y="249885"/>
                  </a:lnTo>
                  <a:lnTo>
                    <a:pt x="2197608" y="246900"/>
                  </a:lnTo>
                  <a:lnTo>
                    <a:pt x="2182749" y="249885"/>
                  </a:lnTo>
                  <a:lnTo>
                    <a:pt x="2170646" y="258038"/>
                  </a:lnTo>
                  <a:lnTo>
                    <a:pt x="2162492" y="270141"/>
                  </a:lnTo>
                  <a:lnTo>
                    <a:pt x="2159508" y="285000"/>
                  </a:lnTo>
                  <a:lnTo>
                    <a:pt x="2162492" y="299847"/>
                  </a:lnTo>
                  <a:lnTo>
                    <a:pt x="2170646" y="311950"/>
                  </a:lnTo>
                  <a:lnTo>
                    <a:pt x="2182749" y="320103"/>
                  </a:lnTo>
                  <a:lnTo>
                    <a:pt x="2188083" y="321183"/>
                  </a:lnTo>
                  <a:lnTo>
                    <a:pt x="2188083" y="944880"/>
                  </a:lnTo>
                  <a:lnTo>
                    <a:pt x="2207133" y="944880"/>
                  </a:lnTo>
                  <a:lnTo>
                    <a:pt x="2207133" y="323088"/>
                  </a:lnTo>
                  <a:lnTo>
                    <a:pt x="2207133" y="321183"/>
                  </a:lnTo>
                  <a:lnTo>
                    <a:pt x="2212454" y="320103"/>
                  </a:lnTo>
                  <a:lnTo>
                    <a:pt x="2224557" y="311950"/>
                  </a:lnTo>
                  <a:lnTo>
                    <a:pt x="2232710" y="299847"/>
                  </a:lnTo>
                  <a:lnTo>
                    <a:pt x="2235708" y="285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108" y="4184904"/>
              <a:ext cx="2770631" cy="247192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3150365"/>
            <a:ext cx="3283725" cy="24460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3719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Image</a:t>
            </a:r>
            <a:r>
              <a:rPr spc="-75" dirty="0"/>
              <a:t> </a:t>
            </a:r>
            <a:r>
              <a:rPr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726819"/>
            <a:ext cx="6463030" cy="15328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800" b="1" spc="-5" dirty="0">
                <a:latin typeface="Arial"/>
                <a:cs typeface="Arial"/>
              </a:rPr>
              <a:t>Discrete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representation</a:t>
            </a:r>
            <a:r>
              <a:rPr sz="1800" b="1" dirty="0">
                <a:latin typeface="Arial"/>
                <a:cs typeface="Arial"/>
              </a:rPr>
              <a:t> of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images</a:t>
            </a:r>
            <a:endParaRPr sz="1800">
              <a:latin typeface="Arial"/>
              <a:cs typeface="Arial"/>
            </a:endParaRPr>
          </a:p>
          <a:p>
            <a:pPr marL="527685" indent="-173990">
              <a:lnSpc>
                <a:spcPct val="100000"/>
              </a:lnSpc>
              <a:spcBef>
                <a:spcPts val="204"/>
              </a:spcBef>
              <a:buChar char="•"/>
              <a:tabLst>
                <a:tab pos="528320" algn="l"/>
              </a:tabLst>
            </a:pPr>
            <a:r>
              <a:rPr sz="1800" spc="-15" dirty="0">
                <a:latin typeface="Arial MT"/>
                <a:cs typeface="Arial MT"/>
              </a:rPr>
              <a:t>we’ll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carve </a:t>
            </a:r>
            <a:r>
              <a:rPr sz="1800" spc="-5" dirty="0">
                <a:latin typeface="Arial MT"/>
                <a:cs typeface="Arial MT"/>
              </a:rPr>
              <a:t>up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image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into</a:t>
            </a:r>
            <a:r>
              <a:rPr sz="1800" dirty="0">
                <a:latin typeface="Arial MT"/>
                <a:cs typeface="Arial MT"/>
              </a:rPr>
              <a:t> 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rectangular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grid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 </a:t>
            </a:r>
            <a:r>
              <a:rPr sz="1800" spc="-10" dirty="0">
                <a:solidFill>
                  <a:srgbClr val="3333CC"/>
                </a:solidFill>
                <a:latin typeface="Arial MT"/>
                <a:cs typeface="Arial MT"/>
              </a:rPr>
              <a:t>pixels</a:t>
            </a:r>
            <a:r>
              <a:rPr sz="1800" spc="2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1800" i="1" spc="-5" dirty="0">
                <a:latin typeface="Georgia"/>
                <a:cs typeface="Georgia"/>
              </a:rPr>
              <a:t>P</a:t>
            </a:r>
            <a:r>
              <a:rPr sz="1800" spc="-5" dirty="0">
                <a:latin typeface="Georgia"/>
                <a:cs typeface="Georgia"/>
              </a:rPr>
              <a:t>[</a:t>
            </a:r>
            <a:r>
              <a:rPr sz="1800" i="1" spc="-5" dirty="0">
                <a:latin typeface="Georgia"/>
                <a:cs typeface="Georgia"/>
              </a:rPr>
              <a:t>x,y</a:t>
            </a:r>
            <a:r>
              <a:rPr sz="1800" spc="-5" dirty="0">
                <a:latin typeface="Georgia"/>
                <a:cs typeface="Georgia"/>
              </a:rPr>
              <a:t>]</a:t>
            </a:r>
            <a:endParaRPr sz="1800">
              <a:latin typeface="Georgia"/>
              <a:cs typeface="Georgia"/>
            </a:endParaRPr>
          </a:p>
          <a:p>
            <a:pPr marL="527685" indent="-173990">
              <a:lnSpc>
                <a:spcPct val="100000"/>
              </a:lnSpc>
              <a:spcBef>
                <a:spcPts val="215"/>
              </a:spcBef>
              <a:buChar char="•"/>
              <a:tabLst>
                <a:tab pos="528320" algn="l"/>
              </a:tabLst>
            </a:pPr>
            <a:r>
              <a:rPr sz="1800" spc="-5" dirty="0">
                <a:latin typeface="Arial MT"/>
                <a:cs typeface="Arial MT"/>
              </a:rPr>
              <a:t>each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pixel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i="1" dirty="0">
                <a:latin typeface="Georgia"/>
                <a:cs typeface="Georgia"/>
              </a:rPr>
              <a:t>p</a:t>
            </a:r>
            <a:r>
              <a:rPr sz="1800" i="1" spc="55" dirty="0">
                <a:latin typeface="Georgia"/>
                <a:cs typeface="Georgia"/>
              </a:rPr>
              <a:t> </a:t>
            </a:r>
            <a:r>
              <a:rPr sz="1800" spc="-15" dirty="0">
                <a:latin typeface="Arial MT"/>
                <a:cs typeface="Arial MT"/>
              </a:rPr>
              <a:t>will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intensity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value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[0</a:t>
            </a:r>
            <a:r>
              <a:rPr sz="1800" spc="-5" dirty="0">
                <a:latin typeface="Arial MT"/>
                <a:cs typeface="Arial MT"/>
              </a:rPr>
              <a:t> 1]</a:t>
            </a:r>
            <a:endParaRPr sz="1800">
              <a:latin typeface="Arial MT"/>
              <a:cs typeface="Arial MT"/>
            </a:endParaRPr>
          </a:p>
          <a:p>
            <a:pPr marL="527685" indent="-173990">
              <a:lnSpc>
                <a:spcPct val="100000"/>
              </a:lnSpc>
              <a:spcBef>
                <a:spcPts val="229"/>
              </a:spcBef>
              <a:buChar char="•"/>
              <a:tabLst>
                <a:tab pos="528320" algn="l"/>
              </a:tabLst>
            </a:pPr>
            <a:r>
              <a:rPr sz="1800" dirty="0">
                <a:latin typeface="Arial MT"/>
                <a:cs typeface="Arial MT"/>
              </a:rPr>
              <a:t>0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black;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Arial MT"/>
                <a:cs typeface="Arial MT"/>
              </a:rPr>
              <a:t>white;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in-between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gray</a:t>
            </a:r>
            <a:endParaRPr sz="1800">
              <a:latin typeface="Arial MT"/>
              <a:cs typeface="Arial MT"/>
            </a:endParaRPr>
          </a:p>
          <a:p>
            <a:pPr marL="527685" indent="-173990">
              <a:lnSpc>
                <a:spcPct val="100000"/>
              </a:lnSpc>
              <a:spcBef>
                <a:spcPts val="219"/>
              </a:spcBef>
              <a:buChar char="•"/>
              <a:tabLst>
                <a:tab pos="528320" algn="l"/>
              </a:tabLst>
            </a:pPr>
            <a:r>
              <a:rPr sz="1800" spc="-5" dirty="0">
                <a:latin typeface="Arial MT"/>
                <a:cs typeface="Arial MT"/>
              </a:rPr>
              <a:t>Image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size</a:t>
            </a:r>
            <a:r>
              <a:rPr sz="1800" spc="-5" dirty="0">
                <a:latin typeface="Arial MT"/>
                <a:cs typeface="Arial MT"/>
              </a:rPr>
              <a:t> mxn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(mn)</a:t>
            </a:r>
            <a:r>
              <a:rPr sz="1800" spc="-10" dirty="0">
                <a:latin typeface="Arial MT"/>
                <a:cs typeface="Arial MT"/>
              </a:rPr>
              <a:t> pixels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94550" y="3530853"/>
          <a:ext cx="152400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684276" y="3429000"/>
            <a:ext cx="6289675" cy="3126105"/>
            <a:chOff x="684276" y="3429000"/>
            <a:chExt cx="6289675" cy="31261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276" y="3816095"/>
              <a:ext cx="1950720" cy="146456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61922" y="3445001"/>
              <a:ext cx="1521460" cy="3100070"/>
            </a:xfrm>
            <a:custGeom>
              <a:avLst/>
              <a:gdLst/>
              <a:ahLst/>
              <a:cxnLst/>
              <a:rect l="l" t="t" r="r" b="b"/>
              <a:pathLst>
                <a:path w="1521460" h="3100070">
                  <a:moveTo>
                    <a:pt x="7619" y="1344168"/>
                  </a:moveTo>
                  <a:lnTo>
                    <a:pt x="1520952" y="3099816"/>
                  </a:lnTo>
                </a:path>
                <a:path w="1521460" h="3100070">
                  <a:moveTo>
                    <a:pt x="0" y="1196340"/>
                  </a:moveTo>
                  <a:lnTo>
                    <a:pt x="1520952" y="0"/>
                  </a:lnTo>
                </a:path>
              </a:pathLst>
            </a:custGeom>
            <a:ln w="1905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15618" y="4639817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399"/>
                  </a:moveTo>
                  <a:lnTo>
                    <a:pt x="152400" y="1523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399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6871" y="3429000"/>
              <a:ext cx="3806952" cy="31257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20408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Color</a:t>
            </a:r>
            <a:r>
              <a:rPr spc="-95" dirty="0"/>
              <a:t> </a:t>
            </a:r>
            <a:r>
              <a:rPr spc="-5" dirty="0"/>
              <a:t>Image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2336" y="4507991"/>
            <a:ext cx="3281679" cy="1464945"/>
            <a:chOff x="402336" y="4507991"/>
            <a:chExt cx="3281679" cy="14649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336" y="4507991"/>
              <a:ext cx="1950720" cy="14645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83536" y="5269991"/>
              <a:ext cx="1295400" cy="228600"/>
            </a:xfrm>
            <a:custGeom>
              <a:avLst/>
              <a:gdLst/>
              <a:ahLst/>
              <a:cxnLst/>
              <a:rect l="l" t="t" r="r" b="b"/>
              <a:pathLst>
                <a:path w="1295400" h="228600">
                  <a:moveTo>
                    <a:pt x="40474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40474" y="171450"/>
                  </a:lnTo>
                  <a:lnTo>
                    <a:pt x="40474" y="57150"/>
                  </a:lnTo>
                  <a:close/>
                </a:path>
                <a:path w="1295400" h="228600">
                  <a:moveTo>
                    <a:pt x="161861" y="57150"/>
                  </a:moveTo>
                  <a:lnTo>
                    <a:pt x="80899" y="57150"/>
                  </a:lnTo>
                  <a:lnTo>
                    <a:pt x="80899" y="171450"/>
                  </a:lnTo>
                  <a:lnTo>
                    <a:pt x="161861" y="171450"/>
                  </a:lnTo>
                  <a:lnTo>
                    <a:pt x="161861" y="57150"/>
                  </a:lnTo>
                  <a:close/>
                </a:path>
                <a:path w="1295400" h="228600">
                  <a:moveTo>
                    <a:pt x="1295400" y="114300"/>
                  </a:moveTo>
                  <a:lnTo>
                    <a:pt x="971550" y="0"/>
                  </a:lnTo>
                  <a:lnTo>
                    <a:pt x="971550" y="57150"/>
                  </a:lnTo>
                  <a:lnTo>
                    <a:pt x="202438" y="57150"/>
                  </a:lnTo>
                  <a:lnTo>
                    <a:pt x="202438" y="171450"/>
                  </a:lnTo>
                  <a:lnTo>
                    <a:pt x="971550" y="171450"/>
                  </a:lnTo>
                  <a:lnTo>
                    <a:pt x="971550" y="228600"/>
                  </a:lnTo>
                  <a:lnTo>
                    <a:pt x="1295400" y="11430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83536" y="5269991"/>
              <a:ext cx="1295400" cy="228600"/>
            </a:xfrm>
            <a:custGeom>
              <a:avLst/>
              <a:gdLst/>
              <a:ahLst/>
              <a:cxnLst/>
              <a:rect l="l" t="t" r="r" b="b"/>
              <a:pathLst>
                <a:path w="1295400" h="228600">
                  <a:moveTo>
                    <a:pt x="971550" y="0"/>
                  </a:moveTo>
                  <a:lnTo>
                    <a:pt x="971550" y="57150"/>
                  </a:lnTo>
                  <a:lnTo>
                    <a:pt x="202437" y="57150"/>
                  </a:lnTo>
                  <a:lnTo>
                    <a:pt x="202437" y="171450"/>
                  </a:lnTo>
                  <a:lnTo>
                    <a:pt x="971550" y="171450"/>
                  </a:lnTo>
                  <a:lnTo>
                    <a:pt x="971550" y="228600"/>
                  </a:lnTo>
                  <a:lnTo>
                    <a:pt x="1295400" y="114300"/>
                  </a:lnTo>
                  <a:lnTo>
                    <a:pt x="971550" y="0"/>
                  </a:lnTo>
                  <a:close/>
                </a:path>
                <a:path w="1295400" h="228600">
                  <a:moveTo>
                    <a:pt x="80899" y="171450"/>
                  </a:moveTo>
                  <a:lnTo>
                    <a:pt x="161861" y="171450"/>
                  </a:lnTo>
                  <a:lnTo>
                    <a:pt x="161861" y="57150"/>
                  </a:lnTo>
                  <a:lnTo>
                    <a:pt x="80899" y="57150"/>
                  </a:lnTo>
                  <a:lnTo>
                    <a:pt x="80899" y="171450"/>
                  </a:lnTo>
                  <a:close/>
                </a:path>
                <a:path w="1295400" h="228600">
                  <a:moveTo>
                    <a:pt x="0" y="171450"/>
                  </a:moveTo>
                  <a:lnTo>
                    <a:pt x="40481" y="171450"/>
                  </a:lnTo>
                  <a:lnTo>
                    <a:pt x="40481" y="57150"/>
                  </a:lnTo>
                  <a:lnTo>
                    <a:pt x="0" y="57150"/>
                  </a:lnTo>
                  <a:lnTo>
                    <a:pt x="0" y="1714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08630" y="4689094"/>
            <a:ext cx="937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RGB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channels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5804" y="1801825"/>
            <a:ext cx="6115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Red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(1,0,0)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0369" y="2378773"/>
            <a:ext cx="923925" cy="923925"/>
            <a:chOff x="670369" y="2378773"/>
            <a:chExt cx="923925" cy="923925"/>
          </a:xfrm>
        </p:grpSpPr>
        <p:sp>
          <p:nvSpPr>
            <p:cNvPr id="10" name="object 10"/>
            <p:cNvSpPr/>
            <p:nvPr/>
          </p:nvSpPr>
          <p:spPr>
            <a:xfrm>
              <a:off x="675131" y="238353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5131" y="238353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914400"/>
                  </a:moveTo>
                  <a:lnTo>
                    <a:pt x="914400" y="9144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92935" y="1801825"/>
            <a:ext cx="6115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Green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(0,1,0)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37169" y="2378773"/>
            <a:ext cx="923925" cy="923925"/>
            <a:chOff x="1737169" y="2378773"/>
            <a:chExt cx="923925" cy="923925"/>
          </a:xfrm>
        </p:grpSpPr>
        <p:sp>
          <p:nvSpPr>
            <p:cNvPr id="14" name="object 14"/>
            <p:cNvSpPr/>
            <p:nvPr/>
          </p:nvSpPr>
          <p:spPr>
            <a:xfrm>
              <a:off x="1741932" y="238353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41932" y="238353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914400"/>
                  </a:moveTo>
                  <a:lnTo>
                    <a:pt x="914400" y="9144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59735" y="1801825"/>
            <a:ext cx="6115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Blue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(0,0,1)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03969" y="2378773"/>
            <a:ext cx="923925" cy="923925"/>
            <a:chOff x="2803969" y="2378773"/>
            <a:chExt cx="923925" cy="923925"/>
          </a:xfrm>
        </p:grpSpPr>
        <p:sp>
          <p:nvSpPr>
            <p:cNvPr id="18" name="object 18"/>
            <p:cNvSpPr/>
            <p:nvPr/>
          </p:nvSpPr>
          <p:spPr>
            <a:xfrm>
              <a:off x="2808732" y="238353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39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399" y="914400"/>
                  </a:lnTo>
                  <a:lnTo>
                    <a:pt x="91439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08732" y="238353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914400"/>
                  </a:moveTo>
                  <a:lnTo>
                    <a:pt x="914399" y="914400"/>
                  </a:lnTo>
                  <a:lnTo>
                    <a:pt x="914399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080569" y="2378773"/>
            <a:ext cx="2524125" cy="923925"/>
            <a:chOff x="6080569" y="2378773"/>
            <a:chExt cx="2524125" cy="923925"/>
          </a:xfrm>
        </p:grpSpPr>
        <p:sp>
          <p:nvSpPr>
            <p:cNvPr id="21" name="object 21"/>
            <p:cNvSpPr/>
            <p:nvPr/>
          </p:nvSpPr>
          <p:spPr>
            <a:xfrm>
              <a:off x="6085332" y="238353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85332" y="2383535"/>
              <a:ext cx="228600" cy="571500"/>
            </a:xfrm>
            <a:custGeom>
              <a:avLst/>
              <a:gdLst/>
              <a:ahLst/>
              <a:cxnLst/>
              <a:rect l="l" t="t" r="r" b="b"/>
              <a:pathLst>
                <a:path w="228600" h="5715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  <a:path w="228600" h="571500">
                  <a:moveTo>
                    <a:pt x="0" y="571500"/>
                  </a:moveTo>
                  <a:lnTo>
                    <a:pt x="228600" y="571500"/>
                  </a:lnTo>
                  <a:lnTo>
                    <a:pt x="228600" y="342900"/>
                  </a:lnTo>
                  <a:lnTo>
                    <a:pt x="0" y="342900"/>
                  </a:lnTo>
                  <a:lnTo>
                    <a:pt x="0" y="571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85532" y="238353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9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85532" y="238353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914400"/>
                  </a:moveTo>
                  <a:lnTo>
                    <a:pt x="914400" y="9144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71132" y="261213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85332" y="306933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85332" y="306933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898640" y="2637535"/>
            <a:ext cx="203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+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242369" y="2378773"/>
            <a:ext cx="2444115" cy="923925"/>
            <a:chOff x="5242369" y="2378773"/>
            <a:chExt cx="2444115" cy="923925"/>
          </a:xfrm>
        </p:grpSpPr>
        <p:sp>
          <p:nvSpPr>
            <p:cNvPr id="30" name="object 30"/>
            <p:cNvSpPr/>
            <p:nvPr/>
          </p:nvSpPr>
          <p:spPr>
            <a:xfrm>
              <a:off x="6310376" y="2528188"/>
              <a:ext cx="1376045" cy="626745"/>
            </a:xfrm>
            <a:custGeom>
              <a:avLst/>
              <a:gdLst/>
              <a:ahLst/>
              <a:cxnLst/>
              <a:rect l="l" t="t" r="r" b="b"/>
              <a:pathLst>
                <a:path w="1376045" h="626744">
                  <a:moveTo>
                    <a:pt x="461518" y="389509"/>
                  </a:moveTo>
                  <a:lnTo>
                    <a:pt x="376301" y="389509"/>
                  </a:lnTo>
                  <a:lnTo>
                    <a:pt x="389077" y="415124"/>
                  </a:lnTo>
                  <a:lnTo>
                    <a:pt x="0" y="609600"/>
                  </a:lnTo>
                  <a:lnTo>
                    <a:pt x="8636" y="626618"/>
                  </a:lnTo>
                  <a:lnTo>
                    <a:pt x="397573" y="432155"/>
                  </a:lnTo>
                  <a:lnTo>
                    <a:pt x="410337" y="457708"/>
                  </a:lnTo>
                  <a:lnTo>
                    <a:pt x="446544" y="409448"/>
                  </a:lnTo>
                  <a:lnTo>
                    <a:pt x="461518" y="389509"/>
                  </a:lnTo>
                  <a:close/>
                </a:path>
                <a:path w="1376045" h="626744">
                  <a:moveTo>
                    <a:pt x="461518" y="313309"/>
                  </a:moveTo>
                  <a:lnTo>
                    <a:pt x="442468" y="303784"/>
                  </a:lnTo>
                  <a:lnTo>
                    <a:pt x="385318" y="275209"/>
                  </a:lnTo>
                  <a:lnTo>
                    <a:pt x="385318" y="303784"/>
                  </a:lnTo>
                  <a:lnTo>
                    <a:pt x="4318" y="303784"/>
                  </a:lnTo>
                  <a:lnTo>
                    <a:pt x="4318" y="322834"/>
                  </a:lnTo>
                  <a:lnTo>
                    <a:pt x="385318" y="322834"/>
                  </a:lnTo>
                  <a:lnTo>
                    <a:pt x="385318" y="351409"/>
                  </a:lnTo>
                  <a:lnTo>
                    <a:pt x="442468" y="322834"/>
                  </a:lnTo>
                  <a:lnTo>
                    <a:pt x="461518" y="313309"/>
                  </a:lnTo>
                  <a:close/>
                </a:path>
                <a:path w="1376045" h="626744">
                  <a:moveTo>
                    <a:pt x="461518" y="237109"/>
                  </a:moveTo>
                  <a:lnTo>
                    <a:pt x="446544" y="217170"/>
                  </a:lnTo>
                  <a:lnTo>
                    <a:pt x="410337" y="168910"/>
                  </a:lnTo>
                  <a:lnTo>
                    <a:pt x="397573" y="194475"/>
                  </a:lnTo>
                  <a:lnTo>
                    <a:pt x="8636" y="0"/>
                  </a:lnTo>
                  <a:lnTo>
                    <a:pt x="0" y="17018"/>
                  </a:lnTo>
                  <a:lnTo>
                    <a:pt x="389077" y="211505"/>
                  </a:lnTo>
                  <a:lnTo>
                    <a:pt x="376301" y="237109"/>
                  </a:lnTo>
                  <a:lnTo>
                    <a:pt x="461518" y="237109"/>
                  </a:lnTo>
                  <a:close/>
                </a:path>
                <a:path w="1376045" h="626744">
                  <a:moveTo>
                    <a:pt x="1375918" y="313309"/>
                  </a:moveTo>
                  <a:lnTo>
                    <a:pt x="1356868" y="303784"/>
                  </a:lnTo>
                  <a:lnTo>
                    <a:pt x="1299718" y="275209"/>
                  </a:lnTo>
                  <a:lnTo>
                    <a:pt x="1299718" y="303784"/>
                  </a:lnTo>
                  <a:lnTo>
                    <a:pt x="918718" y="303784"/>
                  </a:lnTo>
                  <a:lnTo>
                    <a:pt x="918718" y="322834"/>
                  </a:lnTo>
                  <a:lnTo>
                    <a:pt x="1299718" y="322834"/>
                  </a:lnTo>
                  <a:lnTo>
                    <a:pt x="1299718" y="351409"/>
                  </a:lnTo>
                  <a:lnTo>
                    <a:pt x="1356868" y="322834"/>
                  </a:lnTo>
                  <a:lnTo>
                    <a:pt x="1375918" y="3133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47132" y="272643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47132" y="272643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76494" y="2803397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33400" y="0"/>
                  </a:moveTo>
                  <a:lnTo>
                    <a:pt x="533400" y="76200"/>
                  </a:lnTo>
                  <a:lnTo>
                    <a:pt x="590550" y="47625"/>
                  </a:lnTo>
                  <a:lnTo>
                    <a:pt x="546100" y="47625"/>
                  </a:lnTo>
                  <a:lnTo>
                    <a:pt x="546100" y="28575"/>
                  </a:lnTo>
                  <a:lnTo>
                    <a:pt x="590550" y="28575"/>
                  </a:lnTo>
                  <a:lnTo>
                    <a:pt x="533400" y="0"/>
                  </a:lnTo>
                  <a:close/>
                </a:path>
                <a:path w="609600" h="76200">
                  <a:moveTo>
                    <a:pt x="53340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533400" y="47625"/>
                  </a:lnTo>
                  <a:lnTo>
                    <a:pt x="533400" y="28575"/>
                  </a:lnTo>
                  <a:close/>
                </a:path>
                <a:path w="609600" h="76200">
                  <a:moveTo>
                    <a:pt x="590550" y="28575"/>
                  </a:moveTo>
                  <a:lnTo>
                    <a:pt x="546100" y="28575"/>
                  </a:lnTo>
                  <a:lnTo>
                    <a:pt x="546100" y="47625"/>
                  </a:lnTo>
                  <a:lnTo>
                    <a:pt x="590550" y="47625"/>
                  </a:lnTo>
                  <a:lnTo>
                    <a:pt x="609600" y="38100"/>
                  </a:lnTo>
                  <a:lnTo>
                    <a:pt x="59055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47132" y="238353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47132" y="238353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76494" y="2460497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33400" y="0"/>
                  </a:moveTo>
                  <a:lnTo>
                    <a:pt x="533400" y="76200"/>
                  </a:lnTo>
                  <a:lnTo>
                    <a:pt x="590550" y="47625"/>
                  </a:lnTo>
                  <a:lnTo>
                    <a:pt x="546100" y="47625"/>
                  </a:lnTo>
                  <a:lnTo>
                    <a:pt x="546100" y="28575"/>
                  </a:lnTo>
                  <a:lnTo>
                    <a:pt x="590550" y="28575"/>
                  </a:lnTo>
                  <a:lnTo>
                    <a:pt x="533400" y="0"/>
                  </a:lnTo>
                  <a:close/>
                </a:path>
                <a:path w="609600" h="76200">
                  <a:moveTo>
                    <a:pt x="53340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533400" y="47625"/>
                  </a:lnTo>
                  <a:lnTo>
                    <a:pt x="533400" y="28575"/>
                  </a:lnTo>
                  <a:close/>
                </a:path>
                <a:path w="609600" h="76200">
                  <a:moveTo>
                    <a:pt x="590550" y="28575"/>
                  </a:moveTo>
                  <a:lnTo>
                    <a:pt x="546100" y="28575"/>
                  </a:lnTo>
                  <a:lnTo>
                    <a:pt x="546100" y="47625"/>
                  </a:lnTo>
                  <a:lnTo>
                    <a:pt x="590550" y="47625"/>
                  </a:lnTo>
                  <a:lnTo>
                    <a:pt x="609600" y="38100"/>
                  </a:lnTo>
                  <a:lnTo>
                    <a:pt x="59055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47132" y="306933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47132" y="306933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76494" y="3146297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33400" y="0"/>
                  </a:moveTo>
                  <a:lnTo>
                    <a:pt x="533400" y="76200"/>
                  </a:lnTo>
                  <a:lnTo>
                    <a:pt x="590550" y="47625"/>
                  </a:lnTo>
                  <a:lnTo>
                    <a:pt x="546100" y="47625"/>
                  </a:lnTo>
                  <a:lnTo>
                    <a:pt x="546100" y="28575"/>
                  </a:lnTo>
                  <a:lnTo>
                    <a:pt x="590550" y="28575"/>
                  </a:lnTo>
                  <a:lnTo>
                    <a:pt x="533400" y="0"/>
                  </a:lnTo>
                  <a:close/>
                </a:path>
                <a:path w="609600" h="76200">
                  <a:moveTo>
                    <a:pt x="53340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533400" y="47625"/>
                  </a:lnTo>
                  <a:lnTo>
                    <a:pt x="533400" y="28575"/>
                  </a:lnTo>
                  <a:close/>
                </a:path>
                <a:path w="609600" h="76200">
                  <a:moveTo>
                    <a:pt x="590550" y="28575"/>
                  </a:moveTo>
                  <a:lnTo>
                    <a:pt x="546100" y="28575"/>
                  </a:lnTo>
                  <a:lnTo>
                    <a:pt x="546100" y="47625"/>
                  </a:lnTo>
                  <a:lnTo>
                    <a:pt x="590550" y="47625"/>
                  </a:lnTo>
                  <a:lnTo>
                    <a:pt x="609600" y="38100"/>
                  </a:lnTo>
                  <a:lnTo>
                    <a:pt x="59055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554726" y="2198014"/>
            <a:ext cx="307340" cy="1016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spc="-10" dirty="0">
                <a:latin typeface="Arial MT"/>
                <a:cs typeface="Arial MT"/>
              </a:rPr>
              <a:t>0.6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10" dirty="0">
                <a:latin typeface="Arial MT"/>
                <a:cs typeface="Arial MT"/>
              </a:rPr>
              <a:t>0.0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spc="-10" dirty="0">
                <a:latin typeface="Arial MT"/>
                <a:cs typeface="Arial MT"/>
              </a:rPr>
              <a:t>0.8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39889" y="3750373"/>
            <a:ext cx="3178175" cy="238125"/>
            <a:chOff x="639889" y="3750373"/>
            <a:chExt cx="3178175" cy="238125"/>
          </a:xfrm>
        </p:grpSpPr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651" y="3755135"/>
              <a:ext cx="3168396" cy="2286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44651" y="3755135"/>
              <a:ext cx="3168650" cy="228600"/>
            </a:xfrm>
            <a:custGeom>
              <a:avLst/>
              <a:gdLst/>
              <a:ahLst/>
              <a:cxnLst/>
              <a:rect l="l" t="t" r="r" b="b"/>
              <a:pathLst>
                <a:path w="3168650" h="228600">
                  <a:moveTo>
                    <a:pt x="0" y="228600"/>
                  </a:moveTo>
                  <a:lnTo>
                    <a:pt x="3168396" y="228600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27989" y="3463290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733927" y="3463290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21739" y="3463290"/>
            <a:ext cx="2009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Colors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along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Red </a:t>
            </a:r>
            <a:r>
              <a:rPr sz="1600" spc="-5" dirty="0">
                <a:latin typeface="Arial MT"/>
                <a:cs typeface="Arial MT"/>
              </a:rPr>
              <a:t>axis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085332" y="272643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3860291" y="4660391"/>
            <a:ext cx="5153025" cy="2074545"/>
            <a:chOff x="3860291" y="4660391"/>
            <a:chExt cx="5153025" cy="2074545"/>
          </a:xfrm>
        </p:grpSpPr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60291" y="4660391"/>
              <a:ext cx="1952243" cy="14645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60491" y="4965191"/>
              <a:ext cx="1952243" cy="146456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60691" y="5269990"/>
              <a:ext cx="1952244" cy="14645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04061"/>
            <a:ext cx="386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Black"/>
                <a:cs typeface="Arial Black"/>
              </a:rPr>
              <a:t>Video:</a:t>
            </a:r>
            <a:r>
              <a:rPr sz="2400" spc="-45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Frame</a:t>
            </a:r>
            <a:r>
              <a:rPr sz="2400" spc="-35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by</a:t>
            </a:r>
            <a:r>
              <a:rPr sz="2400" spc="-35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Frame</a:t>
            </a:r>
            <a:endParaRPr sz="24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5244" y="1773935"/>
            <a:ext cx="5401056" cy="45232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4540" y="1748155"/>
            <a:ext cx="2174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Arial"/>
                <a:cs typeface="Arial"/>
              </a:rPr>
              <a:t>30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frames/second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398" y="2972409"/>
            <a:ext cx="2186228" cy="20807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3446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Image</a:t>
            </a:r>
            <a:r>
              <a:rPr spc="-55" dirty="0"/>
              <a:t> </a:t>
            </a:r>
            <a:r>
              <a:rPr spc="-5" dirty="0"/>
              <a:t>Enhancement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221735"/>
            <a:ext cx="3048000" cy="19994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24400" y="3221735"/>
            <a:ext cx="3048000" cy="199948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191000" y="3854196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76199"/>
                </a:moveTo>
                <a:lnTo>
                  <a:pt x="285750" y="76199"/>
                </a:lnTo>
                <a:lnTo>
                  <a:pt x="285750" y="0"/>
                </a:lnTo>
                <a:lnTo>
                  <a:pt x="381000" y="152399"/>
                </a:lnTo>
                <a:lnTo>
                  <a:pt x="285750" y="304799"/>
                </a:lnTo>
                <a:lnTo>
                  <a:pt x="285750" y="228599"/>
                </a:lnTo>
                <a:lnTo>
                  <a:pt x="0" y="228599"/>
                </a:lnTo>
                <a:lnTo>
                  <a:pt x="0" y="761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3109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Image</a:t>
            </a:r>
            <a:r>
              <a:rPr spc="-70" dirty="0"/>
              <a:t> </a:t>
            </a:r>
            <a:r>
              <a:rPr dirty="0"/>
              <a:t>Restoration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2209800"/>
            <a:ext cx="3724655" cy="3657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24400" y="2209800"/>
            <a:ext cx="3724655" cy="36576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419600" y="3962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76200"/>
                </a:moveTo>
                <a:lnTo>
                  <a:pt x="171450" y="76200"/>
                </a:lnTo>
                <a:lnTo>
                  <a:pt x="171450" y="0"/>
                </a:lnTo>
                <a:lnTo>
                  <a:pt x="228600" y="152400"/>
                </a:lnTo>
                <a:lnTo>
                  <a:pt x="171450" y="304800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3329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Image</a:t>
            </a:r>
            <a:r>
              <a:rPr spc="-70" dirty="0"/>
              <a:t> </a:t>
            </a:r>
            <a:r>
              <a:rPr dirty="0"/>
              <a:t>Compression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5827267"/>
            <a:ext cx="2420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Video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compression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1991618"/>
            <a:ext cx="6248400" cy="27922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7109"/>
            <a:ext cx="6047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Image</a:t>
            </a:r>
            <a:r>
              <a:rPr spc="-10" dirty="0"/>
              <a:t> </a:t>
            </a:r>
            <a:r>
              <a:rPr spc="-5" dirty="0"/>
              <a:t>Processing</a:t>
            </a:r>
            <a:r>
              <a:rPr spc="-25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75" dirty="0">
                <a:latin typeface="Times New Roman"/>
                <a:cs typeface="Times New Roman"/>
              </a:rPr>
              <a:t> </a:t>
            </a:r>
            <a:r>
              <a:rPr spc="-5" dirty="0"/>
              <a:t>Image</a:t>
            </a:r>
            <a:r>
              <a:rPr spc="-15" dirty="0"/>
              <a:t> </a:t>
            </a:r>
            <a:r>
              <a:rPr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3822" y="1745945"/>
            <a:ext cx="2778125" cy="2343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Arial"/>
                <a:cs typeface="Arial"/>
              </a:rPr>
              <a:t>Image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acquisition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65000"/>
              </a:lnSpc>
              <a:spcBef>
                <a:spcPts val="5"/>
              </a:spcBef>
              <a:tabLst>
                <a:tab pos="2557145" algn="l"/>
                <a:tab pos="2764790" algn="l"/>
              </a:tabLst>
            </a:pPr>
            <a:r>
              <a:rPr sz="2000" b="1" spc="-5" dirty="0">
                <a:latin typeface="Arial"/>
                <a:cs typeface="Arial"/>
              </a:rPr>
              <a:t>Image enhancement 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Image compression 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Image segmentation </a:t>
            </a:r>
            <a:r>
              <a:rPr sz="2000" b="1" dirty="0">
                <a:latin typeface="Arial"/>
                <a:cs typeface="Arial"/>
              </a:rPr>
              <a:t> Object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recognition	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3822" y="4261180"/>
            <a:ext cx="2612390" cy="835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Arial"/>
                <a:cs typeface="Arial"/>
              </a:rPr>
              <a:t>Scene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understanding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2000" b="1" spc="-5" dirty="0">
                <a:latin typeface="Arial"/>
                <a:cs typeface="Arial"/>
              </a:rPr>
              <a:t>Semantics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2232786"/>
            <a:ext cx="1271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Low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level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8191" y="3452241"/>
            <a:ext cx="1236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Mid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level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8191" y="4517897"/>
            <a:ext cx="1337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High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level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48877" y="1824037"/>
            <a:ext cx="314325" cy="3286125"/>
            <a:chOff x="2448877" y="1824037"/>
            <a:chExt cx="314325" cy="32861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3639" y="1828800"/>
              <a:ext cx="304800" cy="32766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53639" y="1828800"/>
              <a:ext cx="304800" cy="3276600"/>
            </a:xfrm>
            <a:custGeom>
              <a:avLst/>
              <a:gdLst/>
              <a:ahLst/>
              <a:cxnLst/>
              <a:rect l="l" t="t" r="r" b="b"/>
              <a:pathLst>
                <a:path w="304800" h="3276600">
                  <a:moveTo>
                    <a:pt x="0" y="3124200"/>
                  </a:moveTo>
                  <a:lnTo>
                    <a:pt x="76200" y="312420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3124200"/>
                  </a:lnTo>
                  <a:lnTo>
                    <a:pt x="304800" y="3124200"/>
                  </a:lnTo>
                  <a:lnTo>
                    <a:pt x="152400" y="3276600"/>
                  </a:lnTo>
                  <a:lnTo>
                    <a:pt x="0" y="3124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25032" y="2475738"/>
            <a:ext cx="2280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Image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processing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83553" y="4060012"/>
            <a:ext cx="2713990" cy="1003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Image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analysis 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(Computer vision,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Pattern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recognition,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etc.)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03747" y="3441191"/>
            <a:ext cx="304800" cy="1675130"/>
          </a:xfrm>
          <a:custGeom>
            <a:avLst/>
            <a:gdLst/>
            <a:ahLst/>
            <a:cxnLst/>
            <a:rect l="l" t="t" r="r" b="b"/>
            <a:pathLst>
              <a:path w="304800" h="1675129">
                <a:moveTo>
                  <a:pt x="0" y="0"/>
                </a:moveTo>
                <a:lnTo>
                  <a:pt x="59334" y="1986"/>
                </a:lnTo>
                <a:lnTo>
                  <a:pt x="107775" y="7413"/>
                </a:lnTo>
                <a:lnTo>
                  <a:pt x="140428" y="15484"/>
                </a:lnTo>
                <a:lnTo>
                  <a:pt x="152400" y="25400"/>
                </a:lnTo>
                <a:lnTo>
                  <a:pt x="152400" y="812038"/>
                </a:lnTo>
                <a:lnTo>
                  <a:pt x="164371" y="821953"/>
                </a:lnTo>
                <a:lnTo>
                  <a:pt x="197024" y="830024"/>
                </a:lnTo>
                <a:lnTo>
                  <a:pt x="245465" y="835451"/>
                </a:lnTo>
                <a:lnTo>
                  <a:pt x="304800" y="837438"/>
                </a:lnTo>
                <a:lnTo>
                  <a:pt x="245465" y="839424"/>
                </a:lnTo>
                <a:lnTo>
                  <a:pt x="197024" y="844851"/>
                </a:lnTo>
                <a:lnTo>
                  <a:pt x="164371" y="852922"/>
                </a:lnTo>
                <a:lnTo>
                  <a:pt x="152400" y="862838"/>
                </a:lnTo>
                <a:lnTo>
                  <a:pt x="152400" y="1649476"/>
                </a:lnTo>
                <a:lnTo>
                  <a:pt x="140428" y="1659391"/>
                </a:lnTo>
                <a:lnTo>
                  <a:pt x="107775" y="1667462"/>
                </a:lnTo>
                <a:lnTo>
                  <a:pt x="59334" y="1672889"/>
                </a:lnTo>
                <a:lnTo>
                  <a:pt x="0" y="167487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348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Image</a:t>
            </a:r>
            <a:r>
              <a:rPr spc="-40" dirty="0"/>
              <a:t> </a:t>
            </a:r>
            <a:r>
              <a:rPr spc="-5" dirty="0"/>
              <a:t>Segmentation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4800" y="2133600"/>
            <a:ext cx="7954009" cy="3496310"/>
            <a:chOff x="304800" y="2133600"/>
            <a:chExt cx="7954009" cy="34963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2133600"/>
              <a:ext cx="5305044" cy="1714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3886200"/>
              <a:ext cx="5286756" cy="1714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8800" y="2133600"/>
              <a:ext cx="2619755" cy="1714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8800" y="3886200"/>
              <a:ext cx="2590800" cy="174345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83540" y="6200647"/>
            <a:ext cx="3720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Microsoft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multiclass</a:t>
            </a:r>
            <a:r>
              <a:rPr sz="1600" b="1" spc="5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segmentation</a:t>
            </a:r>
            <a:r>
              <a:rPr sz="1600" b="1" spc="4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data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set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04061"/>
            <a:ext cx="3059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Black"/>
                <a:cs typeface="Arial Black"/>
              </a:rPr>
              <a:t>Image</a:t>
            </a:r>
            <a:r>
              <a:rPr sz="2400" spc="-70" dirty="0">
                <a:latin typeface="Arial Black"/>
                <a:cs typeface="Arial Black"/>
              </a:rPr>
              <a:t> </a:t>
            </a:r>
            <a:r>
              <a:rPr sz="2400" dirty="0">
                <a:latin typeface="Arial Black"/>
                <a:cs typeface="Arial Black"/>
              </a:rPr>
              <a:t>Completion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748155"/>
            <a:ext cx="7274559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b="1" spc="-5" dirty="0">
                <a:latin typeface="Arial"/>
                <a:cs typeface="Arial"/>
              </a:rPr>
              <a:t>Interactively select </a:t>
            </a:r>
            <a:r>
              <a:rPr sz="2000" b="1" dirty="0">
                <a:latin typeface="Arial"/>
                <a:cs typeface="Arial"/>
              </a:rPr>
              <a:t>objects. </a:t>
            </a:r>
            <a:r>
              <a:rPr sz="2000" b="1" spc="-5" dirty="0">
                <a:latin typeface="Arial"/>
                <a:cs typeface="Arial"/>
              </a:rPr>
              <a:t>Remove </a:t>
            </a:r>
            <a:r>
              <a:rPr sz="2000" b="1" dirty="0">
                <a:latin typeface="Arial"/>
                <a:cs typeface="Arial"/>
              </a:rPr>
              <a:t>them </a:t>
            </a:r>
            <a:r>
              <a:rPr sz="2000" b="1" spc="-5" dirty="0">
                <a:latin typeface="Arial"/>
                <a:cs typeface="Arial"/>
              </a:rPr>
              <a:t>and automatically </a:t>
            </a:r>
            <a:r>
              <a:rPr sz="2000" b="1" spc="-5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fill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with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similar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background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(from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same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image)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9327" y="2458211"/>
            <a:ext cx="7734300" cy="34838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9590" y="6086347"/>
            <a:ext cx="37395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I.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Drori,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D.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Cohen-Or,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Yeshurun,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SIGGRPAH’03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258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</a:t>
            </a:r>
            <a:r>
              <a:rPr spc="-70" dirty="0"/>
              <a:t> </a:t>
            </a:r>
            <a:r>
              <a:rPr spc="-5" dirty="0"/>
              <a:t>Examples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6072" y="2023946"/>
            <a:ext cx="8012372" cy="356456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5464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Morphological</a:t>
            </a:r>
            <a:r>
              <a:rPr spc="-40" dirty="0"/>
              <a:t> </a:t>
            </a:r>
            <a:r>
              <a:rPr dirty="0"/>
              <a:t>Image</a:t>
            </a:r>
            <a:r>
              <a:rPr spc="-30" dirty="0"/>
              <a:t> </a:t>
            </a:r>
            <a:r>
              <a:rPr spc="-5" dirty="0"/>
              <a:t>Processing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2286000"/>
            <a:ext cx="2858247" cy="17053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1556" y="2638430"/>
            <a:ext cx="3210290" cy="29912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5140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Object</a:t>
            </a:r>
            <a:r>
              <a:rPr spc="-20" dirty="0"/>
              <a:t> </a:t>
            </a:r>
            <a:r>
              <a:rPr dirty="0"/>
              <a:t>Detection</a:t>
            </a:r>
            <a:r>
              <a:rPr spc="-30" dirty="0"/>
              <a:t> </a:t>
            </a:r>
            <a:r>
              <a:rPr dirty="0"/>
              <a:t>/</a:t>
            </a:r>
            <a:r>
              <a:rPr spc="-15" dirty="0"/>
              <a:t> </a:t>
            </a:r>
            <a:r>
              <a:rPr spc="-5" dirty="0"/>
              <a:t>Recognition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2600" y="2590800"/>
            <a:ext cx="5715000" cy="29047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1640" y="1629155"/>
            <a:ext cx="5474208" cy="48417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5221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Content-Based</a:t>
            </a:r>
            <a:r>
              <a:rPr spc="-25" dirty="0"/>
              <a:t> </a:t>
            </a:r>
            <a:r>
              <a:rPr spc="-5" dirty="0"/>
              <a:t>Image Retrieval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1838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</a:t>
            </a:r>
            <a:r>
              <a:rPr spc="10" dirty="0"/>
              <a:t>i</a:t>
            </a:r>
            <a:r>
              <a:rPr dirty="0"/>
              <a:t>ometrics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2362200"/>
            <a:ext cx="2857500" cy="2857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8200" y="2362200"/>
            <a:ext cx="3305555" cy="28102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2868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Super-Resolution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2057400"/>
            <a:ext cx="381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04061"/>
            <a:ext cx="6799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Applications</a:t>
            </a:r>
            <a:r>
              <a:rPr spc="-3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Digital</a:t>
            </a:r>
            <a:r>
              <a:rPr spc="-20" dirty="0"/>
              <a:t> </a:t>
            </a:r>
            <a:r>
              <a:rPr spc="-5" dirty="0"/>
              <a:t>Image</a:t>
            </a:r>
            <a:r>
              <a:rPr spc="-20" dirty="0"/>
              <a:t> </a:t>
            </a:r>
            <a:r>
              <a:rPr spc="-5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748155"/>
            <a:ext cx="5415915" cy="3852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Digital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camera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b="1" dirty="0">
                <a:latin typeface="Arial"/>
                <a:cs typeface="Arial"/>
              </a:rPr>
              <a:t>Photoshop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b="1" dirty="0">
                <a:latin typeface="Arial"/>
                <a:cs typeface="Arial"/>
              </a:rPr>
              <a:t>Human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computer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interaction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65000"/>
              </a:lnSpc>
            </a:pPr>
            <a:r>
              <a:rPr sz="2000" b="1" dirty="0">
                <a:latin typeface="Arial"/>
                <a:cs typeface="Arial"/>
              </a:rPr>
              <a:t>Medical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imaging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diagnosis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and </a:t>
            </a:r>
            <a:r>
              <a:rPr sz="2000" b="1" dirty="0">
                <a:latin typeface="Arial"/>
                <a:cs typeface="Arial"/>
              </a:rPr>
              <a:t>treatment </a:t>
            </a:r>
            <a:r>
              <a:rPr sz="2000" b="1" spc="-5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Surveillance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2000" b="1" dirty="0">
                <a:latin typeface="Arial"/>
                <a:cs typeface="Arial"/>
              </a:rPr>
              <a:t>Automatic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driving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b="1" dirty="0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b="1" dirty="0">
                <a:latin typeface="Arial"/>
                <a:cs typeface="Arial"/>
              </a:rPr>
              <a:t>Fast-growing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market!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6712</Words>
  <Application>Microsoft Office PowerPoint</Application>
  <PresentationFormat>On-screen Show (4:3)</PresentationFormat>
  <Paragraphs>454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Aptos</vt:lpstr>
      <vt:lpstr>Arial</vt:lpstr>
      <vt:lpstr>Arial Black</vt:lpstr>
      <vt:lpstr>Arial MT</vt:lpstr>
      <vt:lpstr>Bahnschrift</vt:lpstr>
      <vt:lpstr>Calibri</vt:lpstr>
      <vt:lpstr>Cambria Math</vt:lpstr>
      <vt:lpstr>Georgia</vt:lpstr>
      <vt:lpstr>Times New Roman</vt:lpstr>
      <vt:lpstr>Wingdings</vt:lpstr>
      <vt:lpstr>Office Theme</vt:lpstr>
      <vt:lpstr>Digital Image Processing</vt:lpstr>
      <vt:lpstr>PowerPoint Presentation</vt:lpstr>
      <vt:lpstr>About Instructor</vt:lpstr>
      <vt:lpstr>Prerequisites of This Course</vt:lpstr>
      <vt:lpstr>Textbook</vt:lpstr>
      <vt:lpstr>Grading policy</vt:lpstr>
      <vt:lpstr>Mid term </vt:lpstr>
      <vt:lpstr>Final</vt:lpstr>
      <vt:lpstr>Major Topics Covered in Class</vt:lpstr>
      <vt:lpstr>Human Perception VS Machine Vision</vt:lpstr>
      <vt:lpstr>Image Processing  Image Analysis</vt:lpstr>
      <vt:lpstr>Image Acquisition and Representation</vt:lpstr>
      <vt:lpstr>Examples</vt:lpstr>
      <vt:lpstr>Image Acquisition</vt:lpstr>
      <vt:lpstr>Image Representation</vt:lpstr>
      <vt:lpstr>Color Image</vt:lpstr>
      <vt:lpstr>PowerPoint Presentation</vt:lpstr>
      <vt:lpstr>Image Enhancement</vt:lpstr>
      <vt:lpstr>Image Restoration</vt:lpstr>
      <vt:lpstr>Image Compression</vt:lpstr>
      <vt:lpstr>Image Processing  Image Analysis</vt:lpstr>
      <vt:lpstr>Image Segmentation</vt:lpstr>
      <vt:lpstr>PowerPoint Presentation</vt:lpstr>
      <vt:lpstr>More Examples</vt:lpstr>
      <vt:lpstr>Morphological Image Processing</vt:lpstr>
      <vt:lpstr>Object Detection / Recognition</vt:lpstr>
      <vt:lpstr>Content-Based Image Retrieval</vt:lpstr>
      <vt:lpstr>Biometrics</vt:lpstr>
      <vt:lpstr>Super-Resolution</vt:lpstr>
      <vt:lpstr>Applications of Digital Image 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Behnam Kiani Kalejahi</dc:creator>
  <cp:lastModifiedBy>Behnam Kianikalejahi</cp:lastModifiedBy>
  <cp:revision>47</cp:revision>
  <dcterms:created xsi:type="dcterms:W3CDTF">2023-02-20T05:54:02Z</dcterms:created>
  <dcterms:modified xsi:type="dcterms:W3CDTF">2026-01-26T04:19:14Z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2023-02-20T00:00:00Z</vt:filetime>
  </property>
</Properties>
</file>